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9" r:id="rId2"/>
    <p:sldId id="260" r:id="rId3"/>
    <p:sldId id="256" r:id="rId4"/>
    <p:sldId id="257" r:id="rId5"/>
    <p:sldId id="258" r:id="rId6"/>
    <p:sldId id="261" r:id="rId7"/>
    <p:sldId id="262" r:id="rId8"/>
    <p:sldId id="263" r:id="rId9"/>
    <p:sldId id="267" r:id="rId10"/>
    <p:sldId id="265" r:id="rId11"/>
  </p:sldIdLst>
  <p:sldSz cx="9144000" cy="5143500" type="screen16x9"/>
  <p:notesSz cx="6858000" cy="9144000"/>
  <p:embeddedFontLst>
    <p:embeddedFont>
      <p:font typeface="Google Sans Medium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13B9F2-BFF0-4522-B835-030D1ECD5F22}" v="33" dt="2026-06-26T05:28:32.231"/>
  </p1510:revLst>
</p1510:revInfo>
</file>

<file path=ppt/tableStyles.xml><?xml version="1.0" encoding="utf-8"?>
<a:tblStyleLst xmlns:a="http://schemas.openxmlformats.org/drawingml/2006/main" def="{881682A8-CE11-489D-9E8F-A714B37148CA}">
  <a:tblStyle styleId="{881682A8-CE11-489D-9E8F-A714B37148C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shka Dabhade" userId="5b1af456ed52ab2c" providerId="LiveId" clId="{69EC69B7-198D-411C-9B9F-E1468B4EF4BA}"/>
    <pc:docChg chg="undo custSel addSld delSld modSld sldOrd">
      <pc:chgData name="Anushka Dabhade" userId="5b1af456ed52ab2c" providerId="LiveId" clId="{69EC69B7-198D-411C-9B9F-E1468B4EF4BA}" dt="2026-06-26T19:22:27.393" v="734" actId="47"/>
      <pc:docMkLst>
        <pc:docMk/>
      </pc:docMkLst>
      <pc:sldChg chg="delSp modSp mod">
        <pc:chgData name="Anushka Dabhade" userId="5b1af456ed52ab2c" providerId="LiveId" clId="{69EC69B7-198D-411C-9B9F-E1468B4EF4BA}" dt="2026-06-25T17:32:22.435" v="703" actId="1076"/>
        <pc:sldMkLst>
          <pc:docMk/>
          <pc:sldMk cId="0" sldId="256"/>
        </pc:sldMkLst>
        <pc:spChg chg="mod">
          <ac:chgData name="Anushka Dabhade" userId="5b1af456ed52ab2c" providerId="LiveId" clId="{69EC69B7-198D-411C-9B9F-E1468B4EF4BA}" dt="2026-06-25T17:32:22.435" v="703" actId="1076"/>
          <ac:spMkLst>
            <pc:docMk/>
            <pc:sldMk cId="0" sldId="256"/>
            <ac:spMk id="105" creationId="{00000000-0000-0000-0000-000000000000}"/>
          </ac:spMkLst>
        </pc:spChg>
        <pc:spChg chg="mod">
          <ac:chgData name="Anushka Dabhade" userId="5b1af456ed52ab2c" providerId="LiveId" clId="{69EC69B7-198D-411C-9B9F-E1468B4EF4BA}" dt="2026-06-25T17:32:13.203" v="701" actId="1076"/>
          <ac:spMkLst>
            <pc:docMk/>
            <pc:sldMk cId="0" sldId="256"/>
            <ac:spMk id="107" creationId="{00000000-0000-0000-0000-000000000000}"/>
          </ac:spMkLst>
        </pc:spChg>
        <pc:spChg chg="mod">
          <ac:chgData name="Anushka Dabhade" userId="5b1af456ed52ab2c" providerId="LiveId" clId="{69EC69B7-198D-411C-9B9F-E1468B4EF4BA}" dt="2026-06-25T17:25:05.277" v="696" actId="207"/>
          <ac:spMkLst>
            <pc:docMk/>
            <pc:sldMk cId="0" sldId="256"/>
            <ac:spMk id="126" creationId="{00000000-0000-0000-0000-000000000000}"/>
          </ac:spMkLst>
        </pc:spChg>
        <pc:spChg chg="mod">
          <ac:chgData name="Anushka Dabhade" userId="5b1af456ed52ab2c" providerId="LiveId" clId="{69EC69B7-198D-411C-9B9F-E1468B4EF4BA}" dt="2026-06-25T17:04:21.826" v="519" actId="20577"/>
          <ac:spMkLst>
            <pc:docMk/>
            <pc:sldMk cId="0" sldId="256"/>
            <ac:spMk id="132" creationId="{00000000-0000-0000-0000-000000000000}"/>
          </ac:spMkLst>
        </pc:spChg>
        <pc:cxnChg chg="del">
          <ac:chgData name="Anushka Dabhade" userId="5b1af456ed52ab2c" providerId="LiveId" clId="{69EC69B7-198D-411C-9B9F-E1468B4EF4BA}" dt="2026-06-25T17:32:02.163" v="697" actId="478"/>
          <ac:cxnSpMkLst>
            <pc:docMk/>
            <pc:sldMk cId="0" sldId="256"/>
            <ac:cxnSpMk id="3" creationId="{6EBBA2E5-442D-7A85-67ED-F50F8A52913D}"/>
          </ac:cxnSpMkLst>
        </pc:cxnChg>
        <pc:cxnChg chg="mod">
          <ac:chgData name="Anushka Dabhade" userId="5b1af456ed52ab2c" providerId="LiveId" clId="{69EC69B7-198D-411C-9B9F-E1468B4EF4BA}" dt="2026-06-25T17:32:18.279" v="702" actId="1076"/>
          <ac:cxnSpMkLst>
            <pc:docMk/>
            <pc:sldMk cId="0" sldId="256"/>
            <ac:cxnSpMk id="106" creationId="{00000000-0000-0000-0000-000000000000}"/>
          </ac:cxnSpMkLst>
        </pc:cxnChg>
      </pc:sldChg>
      <pc:sldChg chg="modSp mod">
        <pc:chgData name="Anushka Dabhade" userId="5b1af456ed52ab2c" providerId="LiveId" clId="{69EC69B7-198D-411C-9B9F-E1468B4EF4BA}" dt="2026-06-25T17:19:25.288" v="670" actId="255"/>
        <pc:sldMkLst>
          <pc:docMk/>
          <pc:sldMk cId="0" sldId="257"/>
        </pc:sldMkLst>
        <pc:spChg chg="mod">
          <ac:chgData name="Anushka Dabhade" userId="5b1af456ed52ab2c" providerId="LiveId" clId="{69EC69B7-198D-411C-9B9F-E1468B4EF4BA}" dt="2026-06-25T17:09:43.360" v="606" actId="207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Anushka Dabhade" userId="5b1af456ed52ab2c" providerId="LiveId" clId="{69EC69B7-198D-411C-9B9F-E1468B4EF4BA}" dt="2026-06-25T17:19:25.288" v="670" actId="255"/>
          <ac:spMkLst>
            <pc:docMk/>
            <pc:sldMk cId="0" sldId="257"/>
            <ac:spMk id="125" creationId="{00000000-0000-0000-0000-000000000000}"/>
          </ac:spMkLst>
        </pc:spChg>
        <pc:spChg chg="mod">
          <ac:chgData name="Anushka Dabhade" userId="5b1af456ed52ab2c" providerId="LiveId" clId="{69EC69B7-198D-411C-9B9F-E1468B4EF4BA}" dt="2026-06-25T17:11:50.521" v="620" actId="313"/>
          <ac:spMkLst>
            <pc:docMk/>
            <pc:sldMk cId="0" sldId="257"/>
            <ac:spMk id="129" creationId="{00000000-0000-0000-0000-000000000000}"/>
          </ac:spMkLst>
        </pc:spChg>
      </pc:sldChg>
      <pc:sldChg chg="modSp mod">
        <pc:chgData name="Anushka Dabhade" userId="5b1af456ed52ab2c" providerId="LiveId" clId="{69EC69B7-198D-411C-9B9F-E1468B4EF4BA}" dt="2026-06-25T17:33:32.040" v="705" actId="207"/>
        <pc:sldMkLst>
          <pc:docMk/>
          <pc:sldMk cId="0" sldId="258"/>
        </pc:sldMkLst>
        <pc:spChg chg="mod">
          <ac:chgData name="Anushka Dabhade" userId="5b1af456ed52ab2c" providerId="LiveId" clId="{69EC69B7-198D-411C-9B9F-E1468B4EF4BA}" dt="2026-06-25T17:05:25.556" v="540" actId="20577"/>
          <ac:spMkLst>
            <pc:docMk/>
            <pc:sldMk cId="0" sldId="258"/>
            <ac:spMk id="106" creationId="{00000000-0000-0000-0000-000000000000}"/>
          </ac:spMkLst>
        </pc:spChg>
        <pc:spChg chg="mod">
          <ac:chgData name="Anushka Dabhade" userId="5b1af456ed52ab2c" providerId="LiveId" clId="{69EC69B7-198D-411C-9B9F-E1468B4EF4BA}" dt="2026-06-25T17:05:02.580" v="530" actId="20577"/>
          <ac:spMkLst>
            <pc:docMk/>
            <pc:sldMk cId="0" sldId="258"/>
            <ac:spMk id="113" creationId="{00000000-0000-0000-0000-000000000000}"/>
          </ac:spMkLst>
        </pc:spChg>
        <pc:spChg chg="mod">
          <ac:chgData name="Anushka Dabhade" userId="5b1af456ed52ab2c" providerId="LiveId" clId="{69EC69B7-198D-411C-9B9F-E1468B4EF4BA}" dt="2026-06-25T17:33:32.040" v="705" actId="207"/>
          <ac:spMkLst>
            <pc:docMk/>
            <pc:sldMk cId="0" sldId="258"/>
            <ac:spMk id="120" creationId="{00000000-0000-0000-0000-000000000000}"/>
          </ac:spMkLst>
        </pc:spChg>
        <pc:spChg chg="mod">
          <ac:chgData name="Anushka Dabhade" userId="5b1af456ed52ab2c" providerId="LiveId" clId="{69EC69B7-198D-411C-9B9F-E1468B4EF4BA}" dt="2026-06-25T17:22:14.814" v="687" actId="20577"/>
          <ac:spMkLst>
            <pc:docMk/>
            <pc:sldMk cId="0" sldId="258"/>
            <ac:spMk id="124" creationId="{00000000-0000-0000-0000-000000000000}"/>
          </ac:spMkLst>
        </pc:spChg>
        <pc:spChg chg="mod">
          <ac:chgData name="Anushka Dabhade" userId="5b1af456ed52ab2c" providerId="LiveId" clId="{69EC69B7-198D-411C-9B9F-E1468B4EF4BA}" dt="2026-06-25T17:22:51.263" v="689" actId="207"/>
          <ac:spMkLst>
            <pc:docMk/>
            <pc:sldMk cId="0" sldId="258"/>
            <ac:spMk id="128" creationId="{00000000-0000-0000-0000-000000000000}"/>
          </ac:spMkLst>
        </pc:spChg>
      </pc:sldChg>
      <pc:sldChg chg="addSp delSp modSp add mod ord">
        <pc:chgData name="Anushka Dabhade" userId="5b1af456ed52ab2c" providerId="LiveId" clId="{69EC69B7-198D-411C-9B9F-E1468B4EF4BA}" dt="2026-06-25T15:37:48.475" v="511"/>
        <pc:sldMkLst>
          <pc:docMk/>
          <pc:sldMk cId="0" sldId="259"/>
        </pc:sldMkLst>
        <pc:spChg chg="mod">
          <ac:chgData name="Anushka Dabhade" userId="5b1af456ed52ab2c" providerId="LiveId" clId="{69EC69B7-198D-411C-9B9F-E1468B4EF4BA}" dt="2026-06-25T15:37:48.475" v="511"/>
          <ac:spMkLst>
            <pc:docMk/>
            <pc:sldMk cId="0" sldId="259"/>
            <ac:spMk id="55" creationId="{00000000-0000-0000-0000-000000000000}"/>
          </ac:spMkLst>
        </pc:spChg>
        <pc:spChg chg="add del mod">
          <ac:chgData name="Anushka Dabhade" userId="5b1af456ed52ab2c" providerId="LiveId" clId="{69EC69B7-198D-411C-9B9F-E1468B4EF4BA}" dt="2026-06-25T15:37:31.574" v="508" actId="20577"/>
          <ac:spMkLst>
            <pc:docMk/>
            <pc:sldMk cId="0" sldId="259"/>
            <ac:spMk id="56" creationId="{00000000-0000-0000-0000-000000000000}"/>
          </ac:spMkLst>
        </pc:spChg>
      </pc:sldChg>
      <pc:sldChg chg="modSp add mod">
        <pc:chgData name="Anushka Dabhade" userId="5b1af456ed52ab2c" providerId="LiveId" clId="{69EC69B7-198D-411C-9B9F-E1468B4EF4BA}" dt="2026-06-25T15:35:00.126" v="310" actId="1076"/>
        <pc:sldMkLst>
          <pc:docMk/>
          <pc:sldMk cId="0" sldId="260"/>
        </pc:sldMkLst>
        <pc:graphicFrameChg chg="mod modGraphic">
          <ac:chgData name="Anushka Dabhade" userId="5b1af456ed52ab2c" providerId="LiveId" clId="{69EC69B7-198D-411C-9B9F-E1468B4EF4BA}" dt="2026-06-25T15:35:00.126" v="310" actId="1076"/>
          <ac:graphicFrameMkLst>
            <pc:docMk/>
            <pc:sldMk cId="0" sldId="260"/>
            <ac:graphicFrameMk id="64" creationId="{00000000-0000-0000-0000-000000000000}"/>
          </ac:graphicFrameMkLst>
        </pc:graphicFrameChg>
      </pc:sldChg>
      <pc:sldChg chg="modSp add mod">
        <pc:chgData name="Anushka Dabhade" userId="5b1af456ed52ab2c" providerId="LiveId" clId="{69EC69B7-198D-411C-9B9F-E1468B4EF4BA}" dt="2026-06-25T17:37:39.254" v="720" actId="207"/>
        <pc:sldMkLst>
          <pc:docMk/>
          <pc:sldMk cId="0" sldId="261"/>
        </pc:sldMkLst>
        <pc:spChg chg="mod">
          <ac:chgData name="Anushka Dabhade" userId="5b1af456ed52ab2c" providerId="LiveId" clId="{69EC69B7-198D-411C-9B9F-E1468B4EF4BA}" dt="2026-06-25T09:08:12.990" v="136" actId="255"/>
          <ac:spMkLst>
            <pc:docMk/>
            <pc:sldMk cId="0" sldId="261"/>
            <ac:spMk id="101" creationId="{00000000-0000-0000-0000-000000000000}"/>
          </ac:spMkLst>
        </pc:spChg>
        <pc:spChg chg="mod">
          <ac:chgData name="Anushka Dabhade" userId="5b1af456ed52ab2c" providerId="LiveId" clId="{69EC69B7-198D-411C-9B9F-E1468B4EF4BA}" dt="2026-06-25T17:05:42.915" v="543" actId="20577"/>
          <ac:spMkLst>
            <pc:docMk/>
            <pc:sldMk cId="0" sldId="261"/>
            <ac:spMk id="104" creationId="{00000000-0000-0000-0000-000000000000}"/>
          </ac:spMkLst>
        </pc:spChg>
        <pc:spChg chg="mod">
          <ac:chgData name="Anushka Dabhade" userId="5b1af456ed52ab2c" providerId="LiveId" clId="{69EC69B7-198D-411C-9B9F-E1468B4EF4BA}" dt="2026-06-25T17:05:46.807" v="545" actId="20577"/>
          <ac:spMkLst>
            <pc:docMk/>
            <pc:sldMk cId="0" sldId="261"/>
            <ac:spMk id="106" creationId="{00000000-0000-0000-0000-000000000000}"/>
          </ac:spMkLst>
        </pc:spChg>
        <pc:spChg chg="mod">
          <ac:chgData name="Anushka Dabhade" userId="5b1af456ed52ab2c" providerId="LiveId" clId="{69EC69B7-198D-411C-9B9F-E1468B4EF4BA}" dt="2026-06-25T17:07:00.405" v="600" actId="20577"/>
          <ac:spMkLst>
            <pc:docMk/>
            <pc:sldMk cId="0" sldId="261"/>
            <ac:spMk id="115" creationId="{00000000-0000-0000-0000-000000000000}"/>
          </ac:spMkLst>
        </pc:spChg>
        <pc:spChg chg="mod">
          <ac:chgData name="Anushka Dabhade" userId="5b1af456ed52ab2c" providerId="LiveId" clId="{69EC69B7-198D-411C-9B9F-E1468B4EF4BA}" dt="2026-06-25T17:37:13.528" v="717" actId="1076"/>
          <ac:spMkLst>
            <pc:docMk/>
            <pc:sldMk cId="0" sldId="261"/>
            <ac:spMk id="124" creationId="{00000000-0000-0000-0000-000000000000}"/>
          </ac:spMkLst>
        </pc:spChg>
        <pc:spChg chg="mod">
          <ac:chgData name="Anushka Dabhade" userId="5b1af456ed52ab2c" providerId="LiveId" clId="{69EC69B7-198D-411C-9B9F-E1468B4EF4BA}" dt="2026-06-25T17:37:30.125" v="719" actId="207"/>
          <ac:spMkLst>
            <pc:docMk/>
            <pc:sldMk cId="0" sldId="261"/>
            <ac:spMk id="125" creationId="{00000000-0000-0000-0000-000000000000}"/>
          </ac:spMkLst>
        </pc:spChg>
        <pc:spChg chg="mod">
          <ac:chgData name="Anushka Dabhade" userId="5b1af456ed52ab2c" providerId="LiveId" clId="{69EC69B7-198D-411C-9B9F-E1468B4EF4BA}" dt="2026-06-25T17:37:39.254" v="720" actId="207"/>
          <ac:spMkLst>
            <pc:docMk/>
            <pc:sldMk cId="0" sldId="261"/>
            <ac:spMk id="127" creationId="{00000000-0000-0000-0000-000000000000}"/>
          </ac:spMkLst>
        </pc:spChg>
        <pc:spChg chg="mod">
          <ac:chgData name="Anushka Dabhade" userId="5b1af456ed52ab2c" providerId="LiveId" clId="{69EC69B7-198D-411C-9B9F-E1468B4EF4BA}" dt="2026-06-25T17:36:48.729" v="713" actId="14100"/>
          <ac:spMkLst>
            <pc:docMk/>
            <pc:sldMk cId="0" sldId="261"/>
            <ac:spMk id="128" creationId="{00000000-0000-0000-0000-000000000000}"/>
          </ac:spMkLst>
        </pc:spChg>
        <pc:spChg chg="mod">
          <ac:chgData name="Anushka Dabhade" userId="5b1af456ed52ab2c" providerId="LiveId" clId="{69EC69B7-198D-411C-9B9F-E1468B4EF4BA}" dt="2026-06-25T17:36:55.378" v="714" actId="1076"/>
          <ac:spMkLst>
            <pc:docMk/>
            <pc:sldMk cId="0" sldId="261"/>
            <ac:spMk id="129" creationId="{00000000-0000-0000-0000-000000000000}"/>
          </ac:spMkLst>
        </pc:spChg>
      </pc:sldChg>
      <pc:sldChg chg="modSp add mod">
        <pc:chgData name="Anushka Dabhade" userId="5b1af456ed52ab2c" providerId="LiveId" clId="{69EC69B7-198D-411C-9B9F-E1468B4EF4BA}" dt="2026-06-25T17:14:03.180" v="664" actId="20577"/>
        <pc:sldMkLst>
          <pc:docMk/>
          <pc:sldMk cId="0" sldId="262"/>
        </pc:sldMkLst>
        <pc:spChg chg="mod">
          <ac:chgData name="Anushka Dabhade" userId="5b1af456ed52ab2c" providerId="LiveId" clId="{69EC69B7-198D-411C-9B9F-E1468B4EF4BA}" dt="2026-06-25T09:09:18.866" v="166" actId="20577"/>
          <ac:spMkLst>
            <pc:docMk/>
            <pc:sldMk cId="0" sldId="262"/>
            <ac:spMk id="101" creationId="{00000000-0000-0000-0000-000000000000}"/>
          </ac:spMkLst>
        </pc:spChg>
        <pc:spChg chg="mod">
          <ac:chgData name="Anushka Dabhade" userId="5b1af456ed52ab2c" providerId="LiveId" clId="{69EC69B7-198D-411C-9B9F-E1468B4EF4BA}" dt="2026-06-25T15:33:06.339" v="289" actId="20577"/>
          <ac:spMkLst>
            <pc:docMk/>
            <pc:sldMk cId="0" sldId="262"/>
            <ac:spMk id="102" creationId="{00000000-0000-0000-0000-000000000000}"/>
          </ac:spMkLst>
        </pc:spChg>
        <pc:spChg chg="mod">
          <ac:chgData name="Anushka Dabhade" userId="5b1af456ed52ab2c" providerId="LiveId" clId="{69EC69B7-198D-411C-9B9F-E1468B4EF4BA}" dt="2026-06-25T17:14:03.180" v="664" actId="20577"/>
          <ac:spMkLst>
            <pc:docMk/>
            <pc:sldMk cId="0" sldId="262"/>
            <ac:spMk id="104" creationId="{00000000-0000-0000-0000-000000000000}"/>
          </ac:spMkLst>
        </pc:spChg>
        <pc:spChg chg="mod">
          <ac:chgData name="Anushka Dabhade" userId="5b1af456ed52ab2c" providerId="LiveId" clId="{69EC69B7-198D-411C-9B9F-E1468B4EF4BA}" dt="2026-06-25T08:52:43.825" v="56" actId="1076"/>
          <ac:spMkLst>
            <pc:docMk/>
            <pc:sldMk cId="0" sldId="262"/>
            <ac:spMk id="129" creationId="{00000000-0000-0000-0000-000000000000}"/>
          </ac:spMkLst>
        </pc:spChg>
        <pc:spChg chg="mod">
          <ac:chgData name="Anushka Dabhade" userId="5b1af456ed52ab2c" providerId="LiveId" clId="{69EC69B7-198D-411C-9B9F-E1468B4EF4BA}" dt="2026-06-25T08:52:48.094" v="57" actId="1076"/>
          <ac:spMkLst>
            <pc:docMk/>
            <pc:sldMk cId="0" sldId="262"/>
            <ac:spMk id="132" creationId="{00000000-0000-0000-0000-000000000000}"/>
          </ac:spMkLst>
        </pc:spChg>
        <pc:spChg chg="mod">
          <ac:chgData name="Anushka Dabhade" userId="5b1af456ed52ab2c" providerId="LiveId" clId="{69EC69B7-198D-411C-9B9F-E1468B4EF4BA}" dt="2026-06-25T08:52:52.259" v="58" actId="1076"/>
          <ac:spMkLst>
            <pc:docMk/>
            <pc:sldMk cId="0" sldId="262"/>
            <ac:spMk id="135" creationId="{00000000-0000-0000-0000-000000000000}"/>
          </ac:spMkLst>
        </pc:spChg>
        <pc:spChg chg="mod">
          <ac:chgData name="Anushka Dabhade" userId="5b1af456ed52ab2c" providerId="LiveId" clId="{69EC69B7-198D-411C-9B9F-E1468B4EF4BA}" dt="2026-06-25T15:32:36.385" v="285" actId="14100"/>
          <ac:spMkLst>
            <pc:docMk/>
            <pc:sldMk cId="0" sldId="262"/>
            <ac:spMk id="136" creationId="{00000000-0000-0000-0000-000000000000}"/>
          </ac:spMkLst>
        </pc:spChg>
        <pc:spChg chg="mod">
          <ac:chgData name="Anushka Dabhade" userId="5b1af456ed52ab2c" providerId="LiveId" clId="{69EC69B7-198D-411C-9B9F-E1468B4EF4BA}" dt="2026-06-25T15:33:21.831" v="293" actId="20577"/>
          <ac:spMkLst>
            <pc:docMk/>
            <pc:sldMk cId="0" sldId="262"/>
            <ac:spMk id="152" creationId="{00000000-0000-0000-0000-000000000000}"/>
          </ac:spMkLst>
        </pc:spChg>
        <pc:picChg chg="mod">
          <ac:chgData name="Anushka Dabhade" userId="5b1af456ed52ab2c" providerId="LiveId" clId="{69EC69B7-198D-411C-9B9F-E1468B4EF4BA}" dt="2026-06-25T15:33:14.652" v="291" actId="1076"/>
          <ac:picMkLst>
            <pc:docMk/>
            <pc:sldMk cId="0" sldId="262"/>
            <ac:picMk id="2" creationId="{00000000-0000-0000-0000-000000000000}"/>
          </ac:picMkLst>
        </pc:picChg>
      </pc:sldChg>
      <pc:sldChg chg="modSp add mod">
        <pc:chgData name="Anushka Dabhade" userId="5b1af456ed52ab2c" providerId="LiveId" clId="{69EC69B7-198D-411C-9B9F-E1468B4EF4BA}" dt="2026-06-25T17:38:32.220" v="729" actId="20577"/>
        <pc:sldMkLst>
          <pc:docMk/>
          <pc:sldMk cId="0" sldId="263"/>
        </pc:sldMkLst>
        <pc:spChg chg="mod">
          <ac:chgData name="Anushka Dabhade" userId="5b1af456ed52ab2c" providerId="LiveId" clId="{69EC69B7-198D-411C-9B9F-E1468B4EF4BA}" dt="2026-06-25T09:10:05.138" v="193" actId="20577"/>
          <ac:spMkLst>
            <pc:docMk/>
            <pc:sldMk cId="0" sldId="263"/>
            <ac:spMk id="101" creationId="{00000000-0000-0000-0000-000000000000}"/>
          </ac:spMkLst>
        </pc:spChg>
        <pc:spChg chg="mod">
          <ac:chgData name="Anushka Dabhade" userId="5b1af456ed52ab2c" providerId="LiveId" clId="{69EC69B7-198D-411C-9B9F-E1468B4EF4BA}" dt="2026-06-25T15:33:53.727" v="304" actId="20577"/>
          <ac:spMkLst>
            <pc:docMk/>
            <pc:sldMk cId="0" sldId="263"/>
            <ac:spMk id="102" creationId="{00000000-0000-0000-0000-000000000000}"/>
          </ac:spMkLst>
        </pc:spChg>
        <pc:spChg chg="mod">
          <ac:chgData name="Anushka Dabhade" userId="5b1af456ed52ab2c" providerId="LiveId" clId="{69EC69B7-198D-411C-9B9F-E1468B4EF4BA}" dt="2026-06-25T15:33:40.378" v="295" actId="20577"/>
          <ac:spMkLst>
            <pc:docMk/>
            <pc:sldMk cId="0" sldId="263"/>
            <ac:spMk id="104" creationId="{00000000-0000-0000-0000-000000000000}"/>
          </ac:spMkLst>
        </pc:spChg>
        <pc:spChg chg="mod">
          <ac:chgData name="Anushka Dabhade" userId="5b1af456ed52ab2c" providerId="LiveId" clId="{69EC69B7-198D-411C-9B9F-E1468B4EF4BA}" dt="2026-06-25T17:38:32.220" v="729" actId="20577"/>
          <ac:spMkLst>
            <pc:docMk/>
            <pc:sldMk cId="0" sldId="263"/>
            <ac:spMk id="119" creationId="{00000000-0000-0000-0000-000000000000}"/>
          </ac:spMkLst>
        </pc:spChg>
        <pc:spChg chg="mod">
          <ac:chgData name="Anushka Dabhade" userId="5b1af456ed52ab2c" providerId="LiveId" clId="{69EC69B7-198D-411C-9B9F-E1468B4EF4BA}" dt="2026-06-25T08:53:15.204" v="104" actId="20577"/>
          <ac:spMkLst>
            <pc:docMk/>
            <pc:sldMk cId="0" sldId="263"/>
            <ac:spMk id="133" creationId="{00000000-0000-0000-0000-000000000000}"/>
          </ac:spMkLst>
        </pc:spChg>
      </pc:sldChg>
      <pc:sldChg chg="add del">
        <pc:chgData name="Anushka Dabhade" userId="5b1af456ed52ab2c" providerId="LiveId" clId="{69EC69B7-198D-411C-9B9F-E1468B4EF4BA}" dt="2026-06-26T05:28:36.388" v="732" actId="47"/>
        <pc:sldMkLst>
          <pc:docMk/>
          <pc:sldMk cId="0" sldId="264"/>
        </pc:sldMkLst>
      </pc:sldChg>
      <pc:sldChg chg="add">
        <pc:chgData name="Anushka Dabhade" userId="5b1af456ed52ab2c" providerId="LiveId" clId="{69EC69B7-198D-411C-9B9F-E1468B4EF4BA}" dt="2026-06-25T09:19:02.365" v="194"/>
        <pc:sldMkLst>
          <pc:docMk/>
          <pc:sldMk cId="0" sldId="265"/>
        </pc:sldMkLst>
      </pc:sldChg>
      <pc:sldChg chg="add del">
        <pc:chgData name="Anushka Dabhade" userId="5b1af456ed52ab2c" providerId="LiveId" clId="{69EC69B7-198D-411C-9B9F-E1468B4EF4BA}" dt="2026-06-26T19:22:16.422" v="733" actId="2696"/>
        <pc:sldMkLst>
          <pc:docMk/>
          <pc:sldMk cId="0" sldId="266"/>
        </pc:sldMkLst>
      </pc:sldChg>
      <pc:sldChg chg="add">
        <pc:chgData name="Anushka Dabhade" userId="5b1af456ed52ab2c" providerId="LiveId" clId="{69EC69B7-198D-411C-9B9F-E1468B4EF4BA}" dt="2026-06-26T05:23:43.160" v="730"/>
        <pc:sldMkLst>
          <pc:docMk/>
          <pc:sldMk cId="0" sldId="267"/>
        </pc:sldMkLst>
      </pc:sldChg>
      <pc:sldChg chg="add del">
        <pc:chgData name="Anushka Dabhade" userId="5b1af456ed52ab2c" providerId="LiveId" clId="{69EC69B7-198D-411C-9B9F-E1468B4EF4BA}" dt="2026-06-26T19:22:27.393" v="734" actId="47"/>
        <pc:sldMkLst>
          <pc:docMk/>
          <pc:sldMk cId="0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33905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01" name="bgrect"/>
          <p:cNvSpPr/>
          <p:nvPr/>
        </p:nvSpPr>
        <p:spPr>
          <a:xfrm>
            <a:off x="0" y="0"/>
            <a:ext cx="9144018" cy="5143501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54" name="Google Shape;54;p13" title="3535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34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94675" y="331937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 dirty="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Name : Phoenix </a:t>
            </a:r>
            <a:r>
              <a:rPr lang="en-IN" sz="1600" b="0" i="0" u="none" strike="noStrike" cap="non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🐦‍🔥</a:t>
            </a:r>
            <a:endParaRPr sz="1600" b="0" i="0" u="none" strike="noStrike" cap="non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28730" y="4269209"/>
            <a:ext cx="8629416" cy="63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>
              <a:lnSpc>
                <a:spcPct val="70000"/>
              </a:lnSpc>
              <a:buSzPts val="1600"/>
            </a:pPr>
            <a:r>
              <a:rPr lang="en-GB" sz="1600" b="0" i="0" u="none" strike="noStrike" cap="none" dirty="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Problem Statement : PS 12 </a:t>
            </a:r>
            <a:r>
              <a:rPr lang="en-GB" sz="1700" dirty="0">
                <a:solidFill>
                  <a:schemeClr val="bg1">
                    <a:lumMod val="9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- </a:t>
            </a:r>
            <a:r>
              <a:rPr lang="en-IN" sz="1700" dirty="0">
                <a:solidFill>
                  <a:schemeClr val="bg1">
                    <a:lumMod val="95000"/>
                  </a:schemeClr>
                </a:solidFill>
              </a:rPr>
              <a:t>Fill in the Frames Seamlessly - Enhancing Temporal</a:t>
            </a:r>
          </a:p>
          <a:p>
            <a:pPr lvl="0">
              <a:lnSpc>
                <a:spcPct val="70000"/>
              </a:lnSpc>
              <a:buSzPts val="1600"/>
            </a:pPr>
            <a:endParaRPr lang="en-IN" sz="1700" dirty="0">
              <a:solidFill>
                <a:schemeClr val="bg1">
                  <a:lumMod val="95000"/>
                </a:schemeClr>
              </a:solidFill>
            </a:endParaRPr>
          </a:p>
          <a:p>
            <a:pPr lvl="0">
              <a:lnSpc>
                <a:spcPct val="70000"/>
              </a:lnSpc>
              <a:buSzPts val="1600"/>
            </a:pPr>
            <a:r>
              <a:rPr lang="en-IN" sz="1700" dirty="0">
                <a:solidFill>
                  <a:schemeClr val="bg1">
                    <a:lumMod val="95000"/>
                  </a:schemeClr>
                </a:solidFill>
              </a:rPr>
              <a:t>Resolution of Satellite Imagery using the techniques of AI/ML based on Optical Flow</a:t>
            </a:r>
            <a:endParaRPr sz="1700" b="0" i="0" u="none" strike="noStrike" cap="none" dirty="0">
              <a:solidFill>
                <a:schemeClr val="bg1">
                  <a:lumMod val="95000"/>
                </a:schemeClr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0163" y="379413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Leader Name : Anushka Dabhade</a:t>
            </a:r>
            <a:endParaRPr sz="1600" b="0" i="0" u="none" strike="noStrike" cap="non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00" name="bgrect"/>
          <p:cNvSpPr/>
          <p:nvPr/>
        </p:nvSpPr>
        <p:spPr>
          <a:xfrm>
            <a:off x="0" y="0"/>
            <a:ext cx="9144018" cy="5143501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62" name="Google Shape;62;p14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370500" y="70217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en-GB" sz="2050" b="0" i="0" u="none" strike="noStrike" cap="non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Members</a:t>
            </a:r>
            <a:endParaRPr sz="2050" b="0" i="0" u="none" strike="noStrike" cap="non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graphicFrame>
        <p:nvGraphicFramePr>
          <p:cNvPr id="64" name="Google Shape;64;p14"/>
          <p:cNvGraphicFramePr/>
          <p:nvPr>
            <p:extLst>
              <p:ext uri="{D42A27DB-BD31-4B8C-83A1-F6EECF244321}">
                <p14:modId xmlns:p14="http://schemas.microsoft.com/office/powerpoint/2010/main" val="344364762"/>
              </p:ext>
            </p:extLst>
          </p:nvPr>
        </p:nvGraphicFramePr>
        <p:xfrm>
          <a:off x="981771" y="1262544"/>
          <a:ext cx="7180458" cy="2804132"/>
        </p:xfrm>
        <a:graphic>
          <a:graphicData uri="http://schemas.openxmlformats.org/drawingml/2006/table">
            <a:tbl>
              <a:tblPr>
                <a:noFill/>
                <a:tableStyleId>{881682A8-CE11-489D-9E8F-A714B37148CA}</a:tableStyleId>
              </a:tblPr>
              <a:tblGrid>
                <a:gridCol w="3590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0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411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 dirty="0">
                          <a:solidFill>
                            <a:srgbClr val="FFFFFF"/>
                          </a:solidFill>
                        </a:rPr>
                        <a:t>Team Leader: </a:t>
                      </a:r>
                      <a:endParaRPr sz="1400" u="none" strike="noStrike" cap="none" dirty="0">
                        <a:solidFill>
                          <a:srgbClr val="FFFFF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>
                        <a:solidFill>
                          <a:srgbClr val="FFFFF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 dirty="0">
                          <a:solidFill>
                            <a:srgbClr val="FFFFFF"/>
                          </a:solidFill>
                        </a:rPr>
                        <a:t>Name: Anushka Dabhade</a:t>
                      </a:r>
                      <a:endParaRPr sz="1400" u="none" strike="noStrike" cap="none" dirty="0">
                        <a:solidFill>
                          <a:srgbClr val="FFFFF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 dirty="0">
                          <a:solidFill>
                            <a:srgbClr val="FFFFFF"/>
                          </a:solidFill>
                        </a:rPr>
                        <a:t>College: New LJ Institute of Engineering</a:t>
                      </a:r>
                      <a:endParaRPr sz="1400" u="none" strike="noStrike" cap="none"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strike="noStrike" cap="none" dirty="0">
                          <a:solidFill>
                            <a:srgbClr val="FFFFFF"/>
                          </a:solidFill>
                        </a:rPr>
                        <a:t>Team Member-1: </a:t>
                      </a:r>
                      <a:endParaRPr sz="1400" u="none" strike="noStrike" cap="none" dirty="0">
                        <a:solidFill>
                          <a:srgbClr val="FFFFF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endParaRPr sz="1400" u="none" strike="noStrike" cap="none" dirty="0">
                        <a:solidFill>
                          <a:srgbClr val="FFFFF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strike="noStrike" cap="none" dirty="0">
                          <a:solidFill>
                            <a:srgbClr val="FFFFFF"/>
                          </a:solidFill>
                        </a:rPr>
                        <a:t>Name: Krithik Naidu</a:t>
                      </a:r>
                      <a:endParaRPr sz="1400" u="none" strike="noStrike" cap="none" dirty="0">
                        <a:solidFill>
                          <a:srgbClr val="FFFFF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strike="noStrike" cap="none" dirty="0">
                          <a:solidFill>
                            <a:srgbClr val="FFFFFF"/>
                          </a:solidFill>
                        </a:rPr>
                        <a:t>College : New LJ Institute of Engineering</a:t>
                      </a:r>
                      <a:endParaRPr sz="1400" u="none" strike="noStrike" cap="none" dirty="0">
                        <a:solidFill>
                          <a:srgbClr val="FFFFF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847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strike="noStrike" cap="none" dirty="0">
                          <a:solidFill>
                            <a:srgbClr val="FFFFFF"/>
                          </a:solidFill>
                        </a:rPr>
                        <a:t>Team Member-2: </a:t>
                      </a:r>
                      <a:endParaRPr sz="1400" u="none" strike="noStrike" cap="none" dirty="0">
                        <a:solidFill>
                          <a:srgbClr val="FFFFF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endParaRPr sz="1400" u="none" strike="noStrike" cap="none" dirty="0">
                        <a:solidFill>
                          <a:srgbClr val="FFFFF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strike="noStrike" cap="none" dirty="0">
                          <a:solidFill>
                            <a:srgbClr val="FFFFFF"/>
                          </a:solidFill>
                        </a:rPr>
                        <a:t>Name: Deval Thakor</a:t>
                      </a:r>
                      <a:endParaRPr sz="1400" u="none" strike="noStrike" cap="none" dirty="0">
                        <a:solidFill>
                          <a:srgbClr val="FFFFF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strike="noStrike" cap="none" dirty="0">
                          <a:solidFill>
                            <a:srgbClr val="FFFFFF"/>
                          </a:solidFill>
                        </a:rPr>
                        <a:t>College: New LJ Institute of Engineering</a:t>
                      </a:r>
                      <a:endParaRPr sz="1400" u="none" strike="noStrike" cap="none" dirty="0">
                        <a:solidFill>
                          <a:srgbClr val="FFFFF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endParaRPr sz="1400" u="none" strike="noStrike" cap="none" dirty="0">
                        <a:solidFill>
                          <a:srgbClr val="FFFFF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strike="noStrike" cap="none" dirty="0">
                          <a:solidFill>
                            <a:srgbClr val="FFFFFF"/>
                          </a:solidFill>
                        </a:rPr>
                        <a:t>Team Member-3: </a:t>
                      </a:r>
                      <a:endParaRPr sz="1400" u="none" strike="noStrike" cap="none" dirty="0">
                        <a:solidFill>
                          <a:srgbClr val="FFFFF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endParaRPr sz="1400" u="none" strike="noStrike" cap="none" dirty="0">
                        <a:solidFill>
                          <a:srgbClr val="FFFFF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strike="noStrike" cap="none" dirty="0">
                          <a:solidFill>
                            <a:srgbClr val="FFFFFF"/>
                          </a:solidFill>
                        </a:rPr>
                        <a:t>Name: Fagun Soni</a:t>
                      </a:r>
                      <a:endParaRPr sz="1400" u="none" strike="noStrike" cap="none" dirty="0">
                        <a:solidFill>
                          <a:srgbClr val="FFFFF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strike="noStrike" cap="none" dirty="0">
                          <a:solidFill>
                            <a:srgbClr val="FFFFFF"/>
                          </a:solidFill>
                        </a:rPr>
                        <a:t>College: New LJ Institute of Engineering</a:t>
                      </a:r>
                      <a:endParaRPr sz="1400" u="none" strike="noStrike" cap="none" dirty="0">
                        <a:solidFill>
                          <a:srgbClr val="FFFFF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endParaRPr sz="1400" u="none" strike="noStrike" cap="none" dirty="0">
                        <a:solidFill>
                          <a:srgbClr val="FFFFF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bg133"/>
          <p:cNvSpPr/>
          <p:nvPr/>
        </p:nvSpPr>
        <p:spPr>
          <a:xfrm>
            <a:off x="0" y="0"/>
            <a:ext cx="9144018" cy="5143501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" name="bgpic" title="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tb101"/>
          <p:cNvSpPr txBox="1"/>
          <p:nvPr/>
        </p:nvSpPr>
        <p:spPr>
          <a:xfrm>
            <a:off x="450000" y="600000"/>
            <a:ext cx="8244018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3000" b="1" i="0">
                <a:solidFill>
                  <a:srgbClr val="FFFFFF"/>
                </a:solidFill>
                <a:latin typeface="Arial"/>
                <a:cs typeface="Arial"/>
              </a:rPr>
              <a:t>The Gap Nobody Else Closes</a:t>
            </a:r>
          </a:p>
        </p:txBody>
      </p:sp>
      <p:sp>
        <p:nvSpPr>
          <p:cNvPr id="102" name="tb102"/>
          <p:cNvSpPr txBox="1"/>
          <p:nvPr/>
        </p:nvSpPr>
        <p:spPr>
          <a:xfrm>
            <a:off x="450000" y="1100000"/>
            <a:ext cx="8244018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0" i="1">
                <a:solidFill>
                  <a:srgbClr val="C7CCDA"/>
                </a:solidFill>
                <a:latin typeface="Calibri"/>
                <a:cs typeface="Calibri"/>
              </a:rPr>
              <a:t>How our approach differs from every optical-flow and video-interpolation tool in use today.</a:t>
            </a:r>
          </a:p>
        </p:txBody>
      </p:sp>
      <p:sp>
        <p:nvSpPr>
          <p:cNvPr id="103" name="tb103"/>
          <p:cNvSpPr txBox="1"/>
          <p:nvPr/>
        </p:nvSpPr>
        <p:spPr>
          <a:xfrm>
            <a:off x="450000" y="1610000"/>
            <a:ext cx="2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50" b="1" i="0">
                <a:solidFill>
                  <a:srgbClr val="8089A8"/>
                </a:solidFill>
                <a:latin typeface="Arial"/>
                <a:cs typeface="Arial"/>
              </a:rPr>
              <a:t>WHAT'S OUT THERE TODAY</a:t>
            </a:r>
          </a:p>
        </p:txBody>
      </p:sp>
      <p:sp>
        <p:nvSpPr>
          <p:cNvPr id="104" name="card104"/>
          <p:cNvSpPr/>
          <p:nvPr/>
        </p:nvSpPr>
        <p:spPr>
          <a:xfrm>
            <a:off x="450000" y="1970000"/>
            <a:ext cx="2300000" cy="2860000"/>
          </a:xfrm>
          <a:prstGeom prst="roundRect">
            <a:avLst>
              <a:gd name="adj" fmla="val 7000"/>
            </a:avLst>
          </a:prstGeom>
          <a:solidFill>
            <a:srgbClr val="151B30"/>
          </a:solidFill>
          <a:ln w="9525">
            <a:solidFill>
              <a:srgbClr val="B33B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5" name="tb105"/>
          <p:cNvSpPr txBox="1"/>
          <p:nvPr/>
        </p:nvSpPr>
        <p:spPr>
          <a:xfrm>
            <a:off x="630000" y="2326900"/>
            <a:ext cx="194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 b="1" i="0" dirty="0">
                <a:solidFill>
                  <a:srgbClr val="FFFFFF"/>
                </a:solidFill>
                <a:latin typeface="Arial"/>
                <a:cs typeface="Arial"/>
              </a:rPr>
              <a:t>Traditional Optical Flow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0" i="0" dirty="0" err="1">
                <a:solidFill>
                  <a:srgbClr val="C7CCDA"/>
                </a:solidFill>
                <a:latin typeface="Calibri"/>
                <a:cs typeface="Calibri"/>
              </a:rPr>
              <a:t>Farneback</a:t>
            </a:r>
            <a:r>
              <a:rPr lang="en-US" sz="950" b="0" i="0" dirty="0">
                <a:solidFill>
                  <a:srgbClr val="C7CCDA"/>
                </a:solidFill>
                <a:latin typeface="Calibri"/>
                <a:cs typeface="Calibri"/>
              </a:rPr>
              <a:t> / Lucas-Kanade break the moment a cloud rotates, forms, or dissolves.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US" sz="950" dirty="0">
              <a:solidFill>
                <a:srgbClr val="C7CCDA"/>
              </a:solidFill>
              <a:latin typeface="Calibri"/>
              <a:cs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US" sz="950" b="0" i="0" dirty="0">
              <a:solidFill>
                <a:srgbClr val="C7CCDA"/>
              </a:solidFill>
              <a:latin typeface="Calibri"/>
              <a:cs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US" sz="950" b="0" i="0" dirty="0">
              <a:solidFill>
                <a:srgbClr val="C7CCDA"/>
              </a:solidFill>
              <a:latin typeface="Calibri"/>
              <a:cs typeface="Calibri"/>
            </a:endParaRPr>
          </a:p>
        </p:txBody>
      </p:sp>
      <p:cxnSp>
        <p:nvCxnSpPr>
          <p:cNvPr id="106" name="line106"/>
          <p:cNvCxnSpPr/>
          <p:nvPr/>
        </p:nvCxnSpPr>
        <p:spPr>
          <a:xfrm>
            <a:off x="630000" y="3303090"/>
            <a:ext cx="1940000" cy="0"/>
          </a:xfrm>
          <a:prstGeom prst="line">
            <a:avLst/>
          </a:prstGeom>
          <a:ln w="9525">
            <a:solidFill>
              <a:srgbClr val="2A3258"/>
            </a:solidFill>
          </a:ln>
        </p:spPr>
      </p:cxnSp>
      <p:sp>
        <p:nvSpPr>
          <p:cNvPr id="107" name="tb107"/>
          <p:cNvSpPr txBox="1"/>
          <p:nvPr/>
        </p:nvSpPr>
        <p:spPr>
          <a:xfrm>
            <a:off x="630000" y="3667296"/>
            <a:ext cx="1940000" cy="9012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 b="1" i="0" dirty="0">
                <a:solidFill>
                  <a:srgbClr val="FFFFFF"/>
                </a:solidFill>
                <a:latin typeface="Arial"/>
                <a:cs typeface="Arial"/>
              </a:rPr>
              <a:t>Generic Video Interpolation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0" i="0" dirty="0">
                <a:solidFill>
                  <a:srgbClr val="C7CCDA"/>
                </a:solidFill>
                <a:latin typeface="Calibri"/>
                <a:cs typeface="Calibri"/>
              </a:rPr>
              <a:t>RIFE / Super </a:t>
            </a:r>
            <a:r>
              <a:rPr lang="en-US" sz="950" b="0" i="0" dirty="0" err="1">
                <a:solidFill>
                  <a:srgbClr val="C7CCDA"/>
                </a:solidFill>
                <a:latin typeface="Calibri"/>
                <a:cs typeface="Calibri"/>
              </a:rPr>
              <a:t>SloMo</a:t>
            </a:r>
            <a:r>
              <a:rPr lang="en-US" sz="950" b="0" i="0" dirty="0">
                <a:solidFill>
                  <a:srgbClr val="C7CCDA"/>
                </a:solidFill>
                <a:latin typeface="Calibri"/>
                <a:cs typeface="Calibri"/>
              </a:rPr>
              <a:t> are cinema tools. single-scale, no physical meaning preserved.</a:t>
            </a:r>
          </a:p>
        </p:txBody>
      </p:sp>
      <p:sp>
        <p:nvSpPr>
          <p:cNvPr id="108" name="tb108"/>
          <p:cNvSpPr txBox="1"/>
          <p:nvPr/>
        </p:nvSpPr>
        <p:spPr>
          <a:xfrm>
            <a:off x="2970000" y="1610000"/>
            <a:ext cx="5724018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50" b="1" i="0" dirty="0">
                <a:solidFill>
                  <a:srgbClr val="FF6A00"/>
                </a:solidFill>
                <a:latin typeface="Arial"/>
                <a:cs typeface="Arial"/>
              </a:rPr>
              <a:t>WHAT WE BUILT INSTEAD</a:t>
            </a:r>
          </a:p>
        </p:txBody>
      </p:sp>
      <p:sp>
        <p:nvSpPr>
          <p:cNvPr id="109" name="card109"/>
          <p:cNvSpPr/>
          <p:nvPr/>
        </p:nvSpPr>
        <p:spPr>
          <a:xfrm>
            <a:off x="2970000" y="1970000"/>
            <a:ext cx="2762009" cy="617500"/>
          </a:xfrm>
          <a:prstGeom prst="roundRect">
            <a:avLst>
              <a:gd name="adj" fmla="val 7000"/>
            </a:avLst>
          </a:prstGeom>
          <a:solidFill>
            <a:srgbClr val="151B30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0" name="badge110"/>
          <p:cNvSpPr/>
          <p:nvPr/>
        </p:nvSpPr>
        <p:spPr>
          <a:xfrm>
            <a:off x="3120000" y="2148750"/>
            <a:ext cx="260000" cy="26000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r>
              <a:rPr lang="en-US" sz="1000" b="1">
                <a:solidFill>
                  <a:srgbClr val="0A0E1A"/>
                </a:solidFill>
                <a:latin typeface="Arial"/>
              </a:rPr>
              <a:t>1</a:t>
            </a:r>
          </a:p>
        </p:txBody>
      </p:sp>
      <p:sp>
        <p:nvSpPr>
          <p:cNvPr id="111" name="tb111"/>
          <p:cNvSpPr txBox="1"/>
          <p:nvPr/>
        </p:nvSpPr>
        <p:spPr>
          <a:xfrm>
            <a:off x="3440000" y="2060000"/>
            <a:ext cx="2202009" cy="43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00" b="1" i="0" dirty="0">
                <a:solidFill>
                  <a:srgbClr val="FFFFFF"/>
                </a:solidFill>
                <a:latin typeface="Arial"/>
                <a:cs typeface="Arial"/>
              </a:rPr>
              <a:t>Multi-Scale Optical Flow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850" b="0" i="0" dirty="0">
                <a:solidFill>
                  <a:srgbClr val="C7CCDA"/>
                </a:solidFill>
                <a:latin typeface="Calibri"/>
                <a:cs typeface="Calibri"/>
              </a:rPr>
              <a:t>Mesoscale drift + convective cells, modeled together</a:t>
            </a:r>
          </a:p>
        </p:txBody>
      </p:sp>
      <p:sp>
        <p:nvSpPr>
          <p:cNvPr id="112" name="card112"/>
          <p:cNvSpPr/>
          <p:nvPr/>
        </p:nvSpPr>
        <p:spPr>
          <a:xfrm>
            <a:off x="5932009" y="1970000"/>
            <a:ext cx="2762009" cy="617500"/>
          </a:xfrm>
          <a:prstGeom prst="roundRect">
            <a:avLst>
              <a:gd name="adj" fmla="val 7000"/>
            </a:avLst>
          </a:prstGeom>
          <a:solidFill>
            <a:srgbClr val="151B30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3" name="badge113"/>
          <p:cNvSpPr/>
          <p:nvPr/>
        </p:nvSpPr>
        <p:spPr>
          <a:xfrm>
            <a:off x="6082009" y="2148750"/>
            <a:ext cx="260000" cy="26000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r>
              <a:rPr lang="en-US" sz="1000" b="1">
                <a:solidFill>
                  <a:srgbClr val="0A0E1A"/>
                </a:solidFill>
                <a:latin typeface="Arial"/>
              </a:rPr>
              <a:t>2</a:t>
            </a:r>
          </a:p>
        </p:txBody>
      </p:sp>
      <p:sp>
        <p:nvSpPr>
          <p:cNvPr id="114" name="tb114"/>
          <p:cNvSpPr txBox="1"/>
          <p:nvPr/>
        </p:nvSpPr>
        <p:spPr>
          <a:xfrm>
            <a:off x="6402009" y="2060000"/>
            <a:ext cx="2202009" cy="43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00" b="1" i="0">
                <a:solidFill>
                  <a:srgbClr val="FFFFFF"/>
                </a:solidFill>
                <a:latin typeface="Arial"/>
                <a:cs typeface="Arial"/>
              </a:rPr>
              <a:t>Cloud-Boundary Loss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850" b="0" i="0">
                <a:solidFill>
                  <a:srgbClr val="C7CCDA"/>
                </a:solidFill>
                <a:latin typeface="Calibri"/>
                <a:cs typeface="Calibri"/>
              </a:rPr>
              <a:t>Laplacian edge term keeps storm edges sharp</a:t>
            </a:r>
          </a:p>
        </p:txBody>
      </p:sp>
      <p:sp>
        <p:nvSpPr>
          <p:cNvPr id="115" name="card115"/>
          <p:cNvSpPr/>
          <p:nvPr/>
        </p:nvSpPr>
        <p:spPr>
          <a:xfrm>
            <a:off x="2970000" y="2717500"/>
            <a:ext cx="2762009" cy="617500"/>
          </a:xfrm>
          <a:prstGeom prst="roundRect">
            <a:avLst>
              <a:gd name="adj" fmla="val 7000"/>
            </a:avLst>
          </a:prstGeom>
          <a:solidFill>
            <a:srgbClr val="151B30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6" name="badge116"/>
          <p:cNvSpPr/>
          <p:nvPr/>
        </p:nvSpPr>
        <p:spPr>
          <a:xfrm>
            <a:off x="3120000" y="2896250"/>
            <a:ext cx="260000" cy="26000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r>
              <a:rPr lang="en-US" sz="1000" b="1">
                <a:solidFill>
                  <a:srgbClr val="0A0E1A"/>
                </a:solidFill>
                <a:latin typeface="Arial"/>
              </a:rPr>
              <a:t>3</a:t>
            </a:r>
          </a:p>
        </p:txBody>
      </p:sp>
      <p:sp>
        <p:nvSpPr>
          <p:cNvPr id="117" name="tb117"/>
          <p:cNvSpPr txBox="1"/>
          <p:nvPr/>
        </p:nvSpPr>
        <p:spPr>
          <a:xfrm>
            <a:off x="3440000" y="2807500"/>
            <a:ext cx="2202009" cy="43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00" b="1" i="0">
                <a:solidFill>
                  <a:srgbClr val="FFFFFF"/>
                </a:solidFill>
                <a:latin typeface="Arial"/>
                <a:cs typeface="Arial"/>
              </a:rPr>
              <a:t>Per-Pixel Confidence Maps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850" b="0" i="0">
                <a:solidFill>
                  <a:srgbClr val="C7CCDA"/>
                </a:solidFill>
                <a:latin typeface="Calibri"/>
                <a:cs typeface="Calibri"/>
              </a:rPr>
              <a:t>Know exactly what to trust in every frame</a:t>
            </a:r>
          </a:p>
        </p:txBody>
      </p:sp>
      <p:sp>
        <p:nvSpPr>
          <p:cNvPr id="118" name="card118"/>
          <p:cNvSpPr/>
          <p:nvPr/>
        </p:nvSpPr>
        <p:spPr>
          <a:xfrm>
            <a:off x="5932009" y="2717500"/>
            <a:ext cx="2762009" cy="617500"/>
          </a:xfrm>
          <a:prstGeom prst="roundRect">
            <a:avLst>
              <a:gd name="adj" fmla="val 7000"/>
            </a:avLst>
          </a:prstGeom>
          <a:solidFill>
            <a:srgbClr val="151B30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9" name="badge119"/>
          <p:cNvSpPr/>
          <p:nvPr/>
        </p:nvSpPr>
        <p:spPr>
          <a:xfrm>
            <a:off x="6082009" y="2896250"/>
            <a:ext cx="260000" cy="26000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r>
              <a:rPr lang="en-US" sz="1000" b="1">
                <a:solidFill>
                  <a:srgbClr val="0A0E1A"/>
                </a:solidFill>
                <a:latin typeface="Arial"/>
              </a:rPr>
              <a:t>4</a:t>
            </a:r>
          </a:p>
        </p:txBody>
      </p:sp>
      <p:sp>
        <p:nvSpPr>
          <p:cNvPr id="120" name="tb120"/>
          <p:cNvSpPr txBox="1"/>
          <p:nvPr/>
        </p:nvSpPr>
        <p:spPr>
          <a:xfrm>
            <a:off x="6402009" y="2807500"/>
            <a:ext cx="2202009" cy="43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00" b="1" i="0" dirty="0">
                <a:solidFill>
                  <a:srgbClr val="FFFFFF"/>
                </a:solidFill>
                <a:latin typeface="Arial"/>
                <a:cs typeface="Arial"/>
              </a:rPr>
              <a:t>GOES/Himawari → INSAT Transfer</a:t>
            </a:r>
            <a:r>
              <a:rPr lang="en-IN" sz="700" dirty="0">
                <a:solidFill>
                  <a:schemeClr val="tx2">
                    <a:lumMod val="75000"/>
                  </a:schemeClr>
                </a:solidFill>
              </a:rPr>
              <a:t> Pretrain on 10-minute GOES/HIMAWARI satellite data, then fine-tune on INSAT data so the model can better adapt to regional weather conditions when applied.</a:t>
            </a:r>
            <a:endParaRPr lang="en-US" sz="700" b="0" i="0" dirty="0">
              <a:solidFill>
                <a:schemeClr val="tx2">
                  <a:lumMod val="7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121" name="card121"/>
          <p:cNvSpPr/>
          <p:nvPr/>
        </p:nvSpPr>
        <p:spPr>
          <a:xfrm>
            <a:off x="2970000" y="3465000"/>
            <a:ext cx="2762009" cy="617500"/>
          </a:xfrm>
          <a:prstGeom prst="roundRect">
            <a:avLst>
              <a:gd name="adj" fmla="val 7000"/>
            </a:avLst>
          </a:prstGeom>
          <a:solidFill>
            <a:srgbClr val="151B30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2" name="badge122"/>
          <p:cNvSpPr/>
          <p:nvPr/>
        </p:nvSpPr>
        <p:spPr>
          <a:xfrm>
            <a:off x="3120000" y="3643750"/>
            <a:ext cx="260000" cy="26000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r>
              <a:rPr lang="en-US" sz="1000" b="1">
                <a:solidFill>
                  <a:srgbClr val="0A0E1A"/>
                </a:solidFill>
                <a:latin typeface="Arial"/>
              </a:rPr>
              <a:t>5</a:t>
            </a:r>
          </a:p>
        </p:txBody>
      </p:sp>
      <p:sp>
        <p:nvSpPr>
          <p:cNvPr id="123" name="tb123"/>
          <p:cNvSpPr txBox="1"/>
          <p:nvPr/>
        </p:nvSpPr>
        <p:spPr>
          <a:xfrm>
            <a:off x="3440000" y="3555000"/>
            <a:ext cx="2202009" cy="43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00" b="1" i="0">
                <a:solidFill>
                  <a:srgbClr val="FFFFFF"/>
                </a:solidFill>
                <a:latin typeface="Arial"/>
                <a:cs typeface="Arial"/>
              </a:rPr>
              <a:t>Kelvin-Preserving Preprocessing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850" b="0" i="0">
                <a:solidFill>
                  <a:srgbClr val="C7CCDA"/>
                </a:solidFill>
                <a:latin typeface="Calibri"/>
                <a:cs typeface="Calibri"/>
              </a:rPr>
              <a:t>Physical meaning never sacrificed for convenience</a:t>
            </a:r>
          </a:p>
        </p:txBody>
      </p:sp>
      <p:sp>
        <p:nvSpPr>
          <p:cNvPr id="124" name="card124"/>
          <p:cNvSpPr/>
          <p:nvPr/>
        </p:nvSpPr>
        <p:spPr>
          <a:xfrm>
            <a:off x="5932009" y="3465000"/>
            <a:ext cx="2762009" cy="617500"/>
          </a:xfrm>
          <a:prstGeom prst="roundRect">
            <a:avLst>
              <a:gd name="adj" fmla="val 7000"/>
            </a:avLst>
          </a:prstGeom>
          <a:solidFill>
            <a:srgbClr val="151B30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5" name="badge125"/>
          <p:cNvSpPr/>
          <p:nvPr/>
        </p:nvSpPr>
        <p:spPr>
          <a:xfrm>
            <a:off x="6082009" y="3643750"/>
            <a:ext cx="260000" cy="26000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r>
              <a:rPr lang="en-US" sz="1000" b="1">
                <a:solidFill>
                  <a:srgbClr val="0A0E1A"/>
                </a:solidFill>
                <a:latin typeface="Arial"/>
              </a:rPr>
              <a:t>6</a:t>
            </a:r>
          </a:p>
        </p:txBody>
      </p:sp>
      <p:sp>
        <p:nvSpPr>
          <p:cNvPr id="126" name="tb126"/>
          <p:cNvSpPr txBox="1"/>
          <p:nvPr/>
        </p:nvSpPr>
        <p:spPr>
          <a:xfrm>
            <a:off x="6402009" y="3555000"/>
            <a:ext cx="2202009" cy="43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00" b="1" i="0" dirty="0">
                <a:solidFill>
                  <a:srgbClr val="FFFFFF"/>
                </a:solidFill>
                <a:latin typeface="Arial"/>
                <a:cs typeface="Arial"/>
              </a:rPr>
              <a:t>Self-Supervised Training</a:t>
            </a:r>
          </a:p>
          <a:p>
            <a:pPr lvl="0">
              <a:lnSpc>
                <a:spcPct val="115000"/>
              </a:lnSpc>
              <a:spcAft>
                <a:spcPts val="400"/>
              </a:spcAft>
            </a:pPr>
            <a:r>
              <a:rPr lang="en-IN" sz="900" dirty="0">
                <a:solidFill>
                  <a:schemeClr val="bg1">
                    <a:lumMod val="75000"/>
                  </a:schemeClr>
                </a:solidFill>
              </a:rPr>
              <a:t>Model learns temporal patterns directly from sequential satellite observations </a:t>
            </a:r>
            <a:r>
              <a:rPr lang="en-IN" sz="900" dirty="0"/>
              <a:t>without manual </a:t>
            </a:r>
            <a:r>
              <a:rPr lang="en-IN" sz="900" dirty="0" err="1"/>
              <a:t>labeling</a:t>
            </a:r>
            <a:r>
              <a:rPr lang="en-IN" sz="900" dirty="0"/>
              <a:t>.</a:t>
            </a:r>
            <a:endParaRPr lang="en-US" sz="850" b="0" i="0" dirty="0">
              <a:solidFill>
                <a:srgbClr val="C7CCDA"/>
              </a:solidFill>
              <a:latin typeface="Calibri"/>
              <a:cs typeface="Calibri"/>
            </a:endParaRPr>
          </a:p>
        </p:txBody>
      </p:sp>
      <p:sp>
        <p:nvSpPr>
          <p:cNvPr id="127" name="card127"/>
          <p:cNvSpPr/>
          <p:nvPr/>
        </p:nvSpPr>
        <p:spPr>
          <a:xfrm>
            <a:off x="2970000" y="4212500"/>
            <a:ext cx="2762009" cy="617500"/>
          </a:xfrm>
          <a:prstGeom prst="roundRect">
            <a:avLst>
              <a:gd name="adj" fmla="val 7000"/>
            </a:avLst>
          </a:prstGeom>
          <a:solidFill>
            <a:srgbClr val="151B30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8" name="badge128"/>
          <p:cNvSpPr/>
          <p:nvPr/>
        </p:nvSpPr>
        <p:spPr>
          <a:xfrm>
            <a:off x="3120000" y="4391250"/>
            <a:ext cx="260000" cy="26000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r>
              <a:rPr lang="en-US" sz="1000" b="1">
                <a:solidFill>
                  <a:srgbClr val="0A0E1A"/>
                </a:solidFill>
                <a:latin typeface="Arial"/>
              </a:rPr>
              <a:t>7</a:t>
            </a:r>
          </a:p>
        </p:txBody>
      </p:sp>
      <p:sp>
        <p:nvSpPr>
          <p:cNvPr id="129" name="tb129"/>
          <p:cNvSpPr txBox="1"/>
          <p:nvPr/>
        </p:nvSpPr>
        <p:spPr>
          <a:xfrm>
            <a:off x="3440000" y="4302500"/>
            <a:ext cx="2202009" cy="43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00" b="1" i="0">
                <a:solidFill>
                  <a:srgbClr val="FFFFFF"/>
                </a:solidFill>
                <a:latin typeface="Arial"/>
                <a:cs typeface="Arial"/>
              </a:rPr>
              <a:t>Cloud Motion + Temporal Score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850" b="0" i="0">
                <a:solidFill>
                  <a:srgbClr val="C7CCDA"/>
                </a:solidFill>
                <a:latin typeface="Calibri"/>
                <a:cs typeface="Calibri"/>
              </a:rPr>
              <a:t>New metrics built for atmospheric motion</a:t>
            </a:r>
          </a:p>
        </p:txBody>
      </p:sp>
      <p:sp>
        <p:nvSpPr>
          <p:cNvPr id="130" name="card130"/>
          <p:cNvSpPr/>
          <p:nvPr/>
        </p:nvSpPr>
        <p:spPr>
          <a:xfrm>
            <a:off x="5932009" y="4212500"/>
            <a:ext cx="2762009" cy="617500"/>
          </a:xfrm>
          <a:prstGeom prst="roundRect">
            <a:avLst>
              <a:gd name="adj" fmla="val 7000"/>
            </a:avLst>
          </a:prstGeom>
          <a:solidFill>
            <a:srgbClr val="151B30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1" name="badge131"/>
          <p:cNvSpPr/>
          <p:nvPr/>
        </p:nvSpPr>
        <p:spPr>
          <a:xfrm>
            <a:off x="6082009" y="4391250"/>
            <a:ext cx="260000" cy="26000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r>
              <a:rPr lang="en-US" sz="1000" b="1">
                <a:solidFill>
                  <a:srgbClr val="0A0E1A"/>
                </a:solidFill>
                <a:latin typeface="Arial"/>
              </a:rPr>
              <a:t>8</a:t>
            </a:r>
          </a:p>
        </p:txBody>
      </p:sp>
      <p:sp>
        <p:nvSpPr>
          <p:cNvPr id="132" name="tb132"/>
          <p:cNvSpPr txBox="1"/>
          <p:nvPr/>
        </p:nvSpPr>
        <p:spPr>
          <a:xfrm>
            <a:off x="6402009" y="4302500"/>
            <a:ext cx="2202009" cy="43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00" b="1" i="0" dirty="0">
                <a:solidFill>
                  <a:srgbClr val="FFFFFF"/>
                </a:solidFill>
                <a:latin typeface="Arial"/>
                <a:cs typeface="Arial"/>
              </a:rPr>
              <a:t>Generalizes Across Satellites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850" b="0" i="0" dirty="0">
                <a:solidFill>
                  <a:srgbClr val="C7CCDA"/>
                </a:solidFill>
                <a:latin typeface="Calibri"/>
                <a:cs typeface="Calibri"/>
              </a:rPr>
              <a:t>One pipeline </a:t>
            </a:r>
            <a:r>
              <a:rPr lang="en-US" sz="850" dirty="0">
                <a:solidFill>
                  <a:srgbClr val="C7CCDA"/>
                </a:solidFill>
                <a:latin typeface="Calibri"/>
                <a:cs typeface="Calibri"/>
              </a:rPr>
              <a:t>: </a:t>
            </a:r>
            <a:r>
              <a:rPr lang="en-US" sz="850" b="0" i="0" dirty="0">
                <a:solidFill>
                  <a:srgbClr val="C7CCDA"/>
                </a:solidFill>
                <a:latin typeface="Calibri"/>
                <a:cs typeface="Calibri"/>
              </a:rPr>
              <a:t>GOES, Himawari &amp; INSAT alike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bg130"/>
          <p:cNvSpPr/>
          <p:nvPr/>
        </p:nvSpPr>
        <p:spPr>
          <a:xfrm>
            <a:off x="0" y="0"/>
            <a:ext cx="9144018" cy="5143501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" name="bgpic" title="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tb101"/>
          <p:cNvSpPr txBox="1"/>
          <p:nvPr/>
        </p:nvSpPr>
        <p:spPr>
          <a:xfrm>
            <a:off x="450000" y="560000"/>
            <a:ext cx="8244018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3000" b="1" i="0">
                <a:solidFill>
                  <a:srgbClr val="FFFFFF"/>
                </a:solidFill>
                <a:latin typeface="Arial"/>
                <a:cs typeface="Arial"/>
              </a:rPr>
              <a:t>From Blind Spot to Trusted Forecast</a:t>
            </a:r>
          </a:p>
        </p:txBody>
      </p:sp>
      <p:sp>
        <p:nvSpPr>
          <p:cNvPr id="102" name="tb102"/>
          <p:cNvSpPr txBox="1"/>
          <p:nvPr/>
        </p:nvSpPr>
        <p:spPr>
          <a:xfrm>
            <a:off x="450000" y="1050000"/>
            <a:ext cx="8244018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0" i="1" dirty="0">
                <a:solidFill>
                  <a:srgbClr val="FF6A00"/>
                </a:solidFill>
                <a:latin typeface="Calibri"/>
                <a:cs typeface="Calibri"/>
              </a:rPr>
              <a:t>INSAT-3DS photographs India every 30 minutes. A cyclone can jump Category 1 → 3 in 20 , invisible until now.</a:t>
            </a:r>
          </a:p>
        </p:txBody>
      </p:sp>
      <p:sp>
        <p:nvSpPr>
          <p:cNvPr id="103" name="card103"/>
          <p:cNvSpPr/>
          <p:nvPr/>
        </p:nvSpPr>
        <p:spPr>
          <a:xfrm>
            <a:off x="450000" y="1480000"/>
            <a:ext cx="1265669" cy="950000"/>
          </a:xfrm>
          <a:prstGeom prst="roundRect">
            <a:avLst>
              <a:gd name="adj" fmla="val 8000"/>
            </a:avLst>
          </a:prstGeom>
          <a:solidFill>
            <a:srgbClr val="151B30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" name="tb104"/>
          <p:cNvSpPr txBox="1"/>
          <p:nvPr/>
        </p:nvSpPr>
        <p:spPr>
          <a:xfrm>
            <a:off x="500000" y="1480000"/>
            <a:ext cx="1165669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00" b="1" i="0">
                <a:solidFill>
                  <a:srgbClr val="FFFFFF"/>
                </a:solidFill>
                <a:latin typeface="Calibri"/>
                <a:cs typeface="Calibri"/>
              </a:rPr>
              <a:t>Ingest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00" b="0" i="0">
                <a:solidFill>
                  <a:srgbClr val="FFFFFF"/>
                </a:solidFill>
                <a:latin typeface="Calibri"/>
                <a:cs typeface="Calibri"/>
              </a:rPr>
              <a:t>.nc Frames</a:t>
            </a:r>
          </a:p>
        </p:txBody>
      </p:sp>
      <p:sp>
        <p:nvSpPr>
          <p:cNvPr id="105" name="arrow105"/>
          <p:cNvSpPr/>
          <p:nvPr/>
        </p:nvSpPr>
        <p:spPr>
          <a:xfrm>
            <a:off x="1715669" y="1885000"/>
            <a:ext cx="130000" cy="140000"/>
          </a:xfrm>
          <a:prstGeom prst="rightArrow">
            <a:avLst/>
          </a:prstGeom>
          <a:solidFill>
            <a:srgbClr val="FF6A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6" name="card106"/>
          <p:cNvSpPr/>
          <p:nvPr/>
        </p:nvSpPr>
        <p:spPr>
          <a:xfrm>
            <a:off x="1845669" y="1480000"/>
            <a:ext cx="1265669" cy="950000"/>
          </a:xfrm>
          <a:prstGeom prst="roundRect">
            <a:avLst>
              <a:gd name="adj" fmla="val 8000"/>
            </a:avLst>
          </a:prstGeom>
          <a:solidFill>
            <a:srgbClr val="151B30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tb107"/>
          <p:cNvSpPr txBox="1"/>
          <p:nvPr/>
        </p:nvSpPr>
        <p:spPr>
          <a:xfrm>
            <a:off x="1895669" y="1480000"/>
            <a:ext cx="1165669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00" b="1" i="0">
                <a:solidFill>
                  <a:srgbClr val="FFFFFF"/>
                </a:solidFill>
                <a:latin typeface="Calibri"/>
                <a:cs typeface="Calibri"/>
              </a:rPr>
              <a:t>Dual-Scale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00" b="0" i="0">
                <a:solidFill>
                  <a:srgbClr val="FFFFFF"/>
                </a:solidFill>
                <a:latin typeface="Calibri"/>
                <a:cs typeface="Calibri"/>
              </a:rPr>
              <a:t>RAFT Flow</a:t>
            </a:r>
          </a:p>
        </p:txBody>
      </p:sp>
      <p:sp>
        <p:nvSpPr>
          <p:cNvPr id="108" name="arrow108"/>
          <p:cNvSpPr/>
          <p:nvPr/>
        </p:nvSpPr>
        <p:spPr>
          <a:xfrm>
            <a:off x="3111338" y="1885000"/>
            <a:ext cx="130000" cy="140000"/>
          </a:xfrm>
          <a:prstGeom prst="rightArrow">
            <a:avLst/>
          </a:prstGeom>
          <a:solidFill>
            <a:srgbClr val="FF6A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9" name="card109"/>
          <p:cNvSpPr/>
          <p:nvPr/>
        </p:nvSpPr>
        <p:spPr>
          <a:xfrm>
            <a:off x="3241338" y="1480000"/>
            <a:ext cx="1265669" cy="950000"/>
          </a:xfrm>
          <a:prstGeom prst="roundRect">
            <a:avLst>
              <a:gd name="adj" fmla="val 8000"/>
            </a:avLst>
          </a:prstGeom>
          <a:solidFill>
            <a:srgbClr val="151B30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0" name="tb110"/>
          <p:cNvSpPr txBox="1"/>
          <p:nvPr/>
        </p:nvSpPr>
        <p:spPr>
          <a:xfrm>
            <a:off x="3291338" y="1480000"/>
            <a:ext cx="1165669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00" b="1" i="0">
                <a:solidFill>
                  <a:srgbClr val="FFFFFF"/>
                </a:solidFill>
                <a:latin typeface="Calibri"/>
                <a:cs typeface="Calibri"/>
              </a:rPr>
              <a:t>Modified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00" b="0" i="0">
                <a:solidFill>
                  <a:srgbClr val="FFFFFF"/>
                </a:solidFill>
                <a:latin typeface="Calibri"/>
                <a:cs typeface="Calibri"/>
              </a:rPr>
              <a:t>RIFE Synthesis</a:t>
            </a:r>
          </a:p>
        </p:txBody>
      </p:sp>
      <p:sp>
        <p:nvSpPr>
          <p:cNvPr id="111" name="arrow111"/>
          <p:cNvSpPr/>
          <p:nvPr/>
        </p:nvSpPr>
        <p:spPr>
          <a:xfrm>
            <a:off x="4507007" y="1885000"/>
            <a:ext cx="130000" cy="140000"/>
          </a:xfrm>
          <a:prstGeom prst="rightArrow">
            <a:avLst/>
          </a:prstGeom>
          <a:solidFill>
            <a:srgbClr val="FF6A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card112"/>
          <p:cNvSpPr/>
          <p:nvPr/>
        </p:nvSpPr>
        <p:spPr>
          <a:xfrm>
            <a:off x="4637007" y="1480000"/>
            <a:ext cx="1265669" cy="950000"/>
          </a:xfrm>
          <a:prstGeom prst="roundRect">
            <a:avLst>
              <a:gd name="adj" fmla="val 8000"/>
            </a:avLst>
          </a:prstGeom>
          <a:solidFill>
            <a:srgbClr val="151B30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3" name="tb113"/>
          <p:cNvSpPr txBox="1"/>
          <p:nvPr/>
        </p:nvSpPr>
        <p:spPr>
          <a:xfrm>
            <a:off x="4687007" y="1480000"/>
            <a:ext cx="1165669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00" b="1" i="0">
                <a:solidFill>
                  <a:srgbClr val="FFFFFF"/>
                </a:solidFill>
                <a:latin typeface="Calibri"/>
                <a:cs typeface="Calibri"/>
              </a:rPr>
              <a:t>Confidence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00" b="0" i="0">
                <a:solidFill>
                  <a:srgbClr val="FFFFFF"/>
                </a:solidFill>
                <a:latin typeface="Calibri"/>
                <a:cs typeface="Calibri"/>
              </a:rPr>
              <a:t>Head</a:t>
            </a:r>
          </a:p>
        </p:txBody>
      </p:sp>
      <p:sp>
        <p:nvSpPr>
          <p:cNvPr id="114" name="arrow114"/>
          <p:cNvSpPr/>
          <p:nvPr/>
        </p:nvSpPr>
        <p:spPr>
          <a:xfrm>
            <a:off x="5902676" y="1885000"/>
            <a:ext cx="130000" cy="140000"/>
          </a:xfrm>
          <a:prstGeom prst="rightArrow">
            <a:avLst/>
          </a:prstGeom>
          <a:solidFill>
            <a:srgbClr val="FF6A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card115"/>
          <p:cNvSpPr/>
          <p:nvPr/>
        </p:nvSpPr>
        <p:spPr>
          <a:xfrm>
            <a:off x="6032676" y="1480000"/>
            <a:ext cx="1265669" cy="950000"/>
          </a:xfrm>
          <a:prstGeom prst="roundRect">
            <a:avLst>
              <a:gd name="adj" fmla="val 8000"/>
            </a:avLst>
          </a:prstGeom>
          <a:solidFill>
            <a:srgbClr val="151B30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6" name="tb116"/>
          <p:cNvSpPr txBox="1"/>
          <p:nvPr/>
        </p:nvSpPr>
        <p:spPr>
          <a:xfrm>
            <a:off x="6082676" y="1480000"/>
            <a:ext cx="1165669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00" b="1" i="0">
                <a:solidFill>
                  <a:srgbClr val="FFFFFF"/>
                </a:solidFill>
                <a:latin typeface="Calibri"/>
                <a:cs typeface="Calibri"/>
              </a:rPr>
              <a:t>Fine-tune on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00" b="0" i="0">
                <a:solidFill>
                  <a:srgbClr val="FFFFFF"/>
                </a:solidFill>
                <a:latin typeface="Calibri"/>
                <a:cs typeface="Calibri"/>
              </a:rPr>
              <a:t>INSAT-3DS</a:t>
            </a:r>
          </a:p>
        </p:txBody>
      </p:sp>
      <p:sp>
        <p:nvSpPr>
          <p:cNvPr id="117" name="arrow117"/>
          <p:cNvSpPr/>
          <p:nvPr/>
        </p:nvSpPr>
        <p:spPr>
          <a:xfrm>
            <a:off x="7298345" y="1885000"/>
            <a:ext cx="130000" cy="140000"/>
          </a:xfrm>
          <a:prstGeom prst="rightArrow">
            <a:avLst/>
          </a:prstGeom>
          <a:solidFill>
            <a:srgbClr val="FF6A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8" name="card118"/>
          <p:cNvSpPr/>
          <p:nvPr/>
        </p:nvSpPr>
        <p:spPr>
          <a:xfrm>
            <a:off x="7428345" y="1480000"/>
            <a:ext cx="1265669" cy="950000"/>
          </a:xfrm>
          <a:prstGeom prst="roundRect">
            <a:avLst>
              <a:gd name="adj" fmla="val 8000"/>
            </a:avLst>
          </a:prstGeom>
          <a:solidFill>
            <a:srgbClr val="151B30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9" name="tb119"/>
          <p:cNvSpPr txBox="1"/>
          <p:nvPr/>
        </p:nvSpPr>
        <p:spPr>
          <a:xfrm>
            <a:off x="7478345" y="1480000"/>
            <a:ext cx="1165669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00" b="1" i="0">
                <a:solidFill>
                  <a:srgbClr val="FFFFFF"/>
                </a:solidFill>
                <a:latin typeface="Calibri"/>
                <a:cs typeface="Calibri"/>
              </a:rPr>
              <a:t>Validation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00" b="0" i="0">
                <a:solidFill>
                  <a:srgbClr val="FFFFFF"/>
                </a:solidFill>
                <a:latin typeface="Calibri"/>
                <a:cs typeface="Calibri"/>
              </a:rPr>
              <a:t>Dashboard</a:t>
            </a:r>
          </a:p>
        </p:txBody>
      </p:sp>
      <p:sp>
        <p:nvSpPr>
          <p:cNvPr id="120" name="card120"/>
          <p:cNvSpPr/>
          <p:nvPr/>
        </p:nvSpPr>
        <p:spPr>
          <a:xfrm>
            <a:off x="450000" y="2650000"/>
            <a:ext cx="2614672" cy="1480000"/>
          </a:xfrm>
          <a:prstGeom prst="roundRect">
            <a:avLst>
              <a:gd name="adj" fmla="val 7000"/>
            </a:avLst>
          </a:prstGeom>
          <a:solidFill>
            <a:srgbClr val="151B30"/>
          </a:solidFill>
          <a:ln w="9525">
            <a:solidFill>
              <a:srgbClr val="FF6A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1" name="tb121"/>
          <p:cNvSpPr txBox="1"/>
          <p:nvPr/>
        </p:nvSpPr>
        <p:spPr>
          <a:xfrm>
            <a:off x="650000" y="2820000"/>
            <a:ext cx="2214672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Arial"/>
                <a:cs typeface="Arial"/>
              </a:rPr>
              <a:t>Built for Satellites, Not Cinema</a:t>
            </a:r>
          </a:p>
        </p:txBody>
      </p:sp>
      <p:sp>
        <p:nvSpPr>
          <p:cNvPr id="122" name="tb122"/>
          <p:cNvSpPr txBox="1"/>
          <p:nvPr/>
        </p:nvSpPr>
        <p:spPr>
          <a:xfrm>
            <a:off x="650000" y="3300000"/>
            <a:ext cx="2214672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  <a:spcAft>
                <a:spcPts val="400"/>
              </a:spcAft>
            </a:pPr>
            <a:r>
              <a:rPr lang="en-IN" sz="900" dirty="0">
                <a:solidFill>
                  <a:schemeClr val="bg1">
                    <a:lumMod val="75000"/>
                  </a:schemeClr>
                </a:solidFill>
              </a:rPr>
              <a:t>Existing video interpolation approaches are not optimized for satellite-specific atmospheric dynamics</a:t>
            </a:r>
            <a:r>
              <a:rPr lang="en-IN" sz="900" dirty="0">
                <a:solidFill>
                  <a:schemeClr val="bg1">
                    <a:lumMod val="85000"/>
                  </a:schemeClr>
                </a:solidFill>
              </a:rPr>
              <a:t>.</a:t>
            </a:r>
            <a:r>
              <a:rPr lang="en-US" sz="1000" b="0" i="0" dirty="0">
                <a:solidFill>
                  <a:srgbClr val="C7CCDA"/>
                </a:solidFill>
                <a:latin typeface="Calibri"/>
                <a:cs typeface="Calibri"/>
              </a:rPr>
              <a:t>Ours is designed from scratch for thermal infrared physics.</a:t>
            </a:r>
          </a:p>
        </p:txBody>
      </p:sp>
      <p:sp>
        <p:nvSpPr>
          <p:cNvPr id="123" name="card123"/>
          <p:cNvSpPr/>
          <p:nvPr/>
        </p:nvSpPr>
        <p:spPr>
          <a:xfrm>
            <a:off x="3264672" y="2650000"/>
            <a:ext cx="2614672" cy="1480000"/>
          </a:xfrm>
          <a:prstGeom prst="roundRect">
            <a:avLst>
              <a:gd name="adj" fmla="val 7000"/>
            </a:avLst>
          </a:prstGeom>
          <a:solidFill>
            <a:srgbClr val="151B30"/>
          </a:solidFill>
          <a:ln w="9525">
            <a:solidFill>
              <a:srgbClr val="FF6A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4" name="tb124"/>
          <p:cNvSpPr txBox="1"/>
          <p:nvPr/>
        </p:nvSpPr>
        <p:spPr>
          <a:xfrm>
            <a:off x="3464672" y="2820000"/>
            <a:ext cx="2214672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Arial"/>
                <a:cs typeface="Arial"/>
              </a:rPr>
              <a:t>Two Scales, Fused</a:t>
            </a:r>
          </a:p>
        </p:txBody>
      </p:sp>
      <p:sp>
        <p:nvSpPr>
          <p:cNvPr id="125" name="tb125"/>
          <p:cNvSpPr txBox="1"/>
          <p:nvPr/>
        </p:nvSpPr>
        <p:spPr>
          <a:xfrm>
            <a:off x="3464672" y="3300000"/>
            <a:ext cx="2214672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  <a:spcAft>
                <a:spcPts val="400"/>
              </a:spcAft>
            </a:pPr>
            <a:r>
              <a:rPr lang="en-IN" sz="900" dirty="0">
                <a:solidFill>
                  <a:schemeClr val="bg1">
                    <a:lumMod val="75000"/>
                  </a:schemeClr>
                </a:solidFill>
              </a:rPr>
              <a:t>Our dual-scale architecture jointly models mesoscale drift and convective-scale cloud motion for improved atmospheric motion estimation</a:t>
            </a:r>
            <a:r>
              <a:rPr lang="en-US" sz="900" b="0" i="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126" name="card126"/>
          <p:cNvSpPr/>
          <p:nvPr/>
        </p:nvSpPr>
        <p:spPr>
          <a:xfrm>
            <a:off x="6079344" y="2650000"/>
            <a:ext cx="2614672" cy="1480000"/>
          </a:xfrm>
          <a:prstGeom prst="roundRect">
            <a:avLst>
              <a:gd name="adj" fmla="val 7000"/>
            </a:avLst>
          </a:prstGeom>
          <a:solidFill>
            <a:srgbClr val="151B30"/>
          </a:solidFill>
          <a:ln w="9525">
            <a:solidFill>
              <a:srgbClr val="FF6A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7" name="tb127"/>
          <p:cNvSpPr txBox="1"/>
          <p:nvPr/>
        </p:nvSpPr>
        <p:spPr>
          <a:xfrm>
            <a:off x="6279344" y="2820000"/>
            <a:ext cx="2214672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Arial"/>
                <a:cs typeface="Arial"/>
              </a:rPr>
              <a:t>Confidence Maps That Operate</a:t>
            </a:r>
          </a:p>
        </p:txBody>
      </p:sp>
      <p:sp>
        <p:nvSpPr>
          <p:cNvPr id="128" name="tb128"/>
          <p:cNvSpPr txBox="1"/>
          <p:nvPr/>
        </p:nvSpPr>
        <p:spPr>
          <a:xfrm>
            <a:off x="6279344" y="3300000"/>
            <a:ext cx="2214672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00" b="0" i="0">
                <a:solidFill>
                  <a:srgbClr val="C7CCDA"/>
                </a:solidFill>
                <a:latin typeface="Calibri"/>
                <a:cs typeface="Calibri"/>
              </a:rPr>
              <a:t>A frame without a reliability score is a demo. Per-pixel confidence turns this into something IMD could actually deploy.</a:t>
            </a:r>
          </a:p>
        </p:txBody>
      </p:sp>
      <p:sp>
        <p:nvSpPr>
          <p:cNvPr id="129" name="tb129"/>
          <p:cNvSpPr txBox="1"/>
          <p:nvPr/>
        </p:nvSpPr>
        <p:spPr>
          <a:xfrm>
            <a:off x="450000" y="4280000"/>
            <a:ext cx="8244018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lvl="0" algn="ctr">
              <a:lnSpc>
                <a:spcPct val="115000"/>
              </a:lnSpc>
              <a:spcAft>
                <a:spcPts val="400"/>
              </a:spcAft>
            </a:pPr>
            <a:r>
              <a:rPr lang="en-US" sz="1150" b="1" i="1" dirty="0">
                <a:solidFill>
                  <a:srgbClr val="FF6A00"/>
                </a:solidFill>
                <a:latin typeface="Calibri"/>
                <a:cs typeface="Calibri"/>
              </a:rPr>
              <a:t>“We don't interpolate pixels , we model atmospheric physics at multiple scales, and tell you exactly how much to trust each frame.”</a:t>
            </a:r>
            <a:br>
              <a:rPr lang="en-US" sz="1150" b="1" i="1" dirty="0">
                <a:solidFill>
                  <a:srgbClr val="FF6A00"/>
                </a:solidFill>
                <a:latin typeface="Calibri"/>
                <a:cs typeface="Calibri"/>
              </a:rPr>
            </a:br>
            <a:r>
              <a:rPr lang="en-US" sz="1150" b="1" i="1" dirty="0">
                <a:solidFill>
                  <a:srgbClr val="FF6A00"/>
                </a:solidFill>
                <a:latin typeface="Calibri"/>
                <a:cs typeface="Calibri"/>
              </a:rPr>
              <a:t>‘’</a:t>
            </a:r>
            <a:r>
              <a:rPr lang="en-IN" sz="1000" b="1" i="1" dirty="0">
                <a:solidFill>
                  <a:schemeClr val="accent4"/>
                </a:solidFill>
              </a:rPr>
              <a:t>Prototype will initially be trained on a smaller regional subset before scaling to full-disk satellite imagery.’’</a:t>
            </a:r>
            <a:endParaRPr lang="en-US" sz="1000" b="1" i="1" dirty="0">
              <a:solidFill>
                <a:schemeClr val="accent4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bg149"/>
          <p:cNvSpPr/>
          <p:nvPr/>
        </p:nvSpPr>
        <p:spPr>
          <a:xfrm>
            <a:off x="0" y="0"/>
            <a:ext cx="9144018" cy="5143501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" name="bgpic" title="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tb101"/>
          <p:cNvSpPr txBox="1"/>
          <p:nvPr/>
        </p:nvSpPr>
        <p:spPr>
          <a:xfrm>
            <a:off x="450000" y="560000"/>
            <a:ext cx="8244018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3000" b="1" i="0" dirty="0">
                <a:solidFill>
                  <a:srgbClr val="FFFFFF"/>
                </a:solidFill>
                <a:latin typeface="Arial"/>
                <a:cs typeface="Arial"/>
              </a:rPr>
              <a:t>What Our Solution Delivers (Features)</a:t>
            </a:r>
          </a:p>
        </p:txBody>
      </p:sp>
      <p:sp>
        <p:nvSpPr>
          <p:cNvPr id="102" name="card102"/>
          <p:cNvSpPr/>
          <p:nvPr/>
        </p:nvSpPr>
        <p:spPr>
          <a:xfrm>
            <a:off x="347009" y="1080000"/>
            <a:ext cx="2350000" cy="760000"/>
          </a:xfrm>
          <a:prstGeom prst="roundRect">
            <a:avLst>
              <a:gd name="adj" fmla="val 8000"/>
            </a:avLst>
          </a:prstGeom>
          <a:solidFill>
            <a:srgbClr val="151B30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3" name="tb103"/>
          <p:cNvSpPr txBox="1"/>
          <p:nvPr/>
        </p:nvSpPr>
        <p:spPr>
          <a:xfrm>
            <a:off x="347009" y="1080000"/>
            <a:ext cx="235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 b="1" i="0" dirty="0">
                <a:solidFill>
                  <a:srgbClr val="FFFFFF"/>
                </a:solidFill>
                <a:latin typeface="Calibri"/>
                <a:cs typeface="Calibri"/>
              </a:rPr>
              <a:t>Frame A · t = 0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00" b="0" i="0" dirty="0">
                <a:solidFill>
                  <a:srgbClr val="8089A8"/>
                </a:solidFill>
                <a:latin typeface="Calibri"/>
                <a:cs typeface="Calibri"/>
              </a:rPr>
              <a:t>real INSAT frame</a:t>
            </a:r>
          </a:p>
        </p:txBody>
      </p:sp>
      <p:sp>
        <p:nvSpPr>
          <p:cNvPr id="104" name="arrow104"/>
          <p:cNvSpPr/>
          <p:nvPr/>
        </p:nvSpPr>
        <p:spPr>
          <a:xfrm>
            <a:off x="2787009" y="1390000"/>
            <a:ext cx="520000" cy="140000"/>
          </a:xfrm>
          <a:prstGeom prst="rightArrow">
            <a:avLst/>
          </a:prstGeom>
          <a:solidFill>
            <a:srgbClr val="FF6A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card105"/>
          <p:cNvSpPr/>
          <p:nvPr/>
        </p:nvSpPr>
        <p:spPr>
          <a:xfrm>
            <a:off x="3397009" y="1080000"/>
            <a:ext cx="2350000" cy="760000"/>
          </a:xfrm>
          <a:prstGeom prst="roundRect">
            <a:avLst>
              <a:gd name="adj" fmla="val 8000"/>
            </a:avLst>
          </a:prstGeom>
          <a:solidFill>
            <a:srgbClr val="1E1430"/>
          </a:solidFill>
          <a:ln w="9525">
            <a:solidFill>
              <a:srgbClr val="FF6A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6" name="tb106"/>
          <p:cNvSpPr txBox="1"/>
          <p:nvPr/>
        </p:nvSpPr>
        <p:spPr>
          <a:xfrm>
            <a:off x="3397009" y="1080000"/>
            <a:ext cx="235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 b="1" i="0" dirty="0">
                <a:solidFill>
                  <a:srgbClr val="FF6A00"/>
                </a:solidFill>
                <a:latin typeface="Calibri"/>
                <a:cs typeface="Calibri"/>
              </a:rPr>
              <a:t>t = 15   ( AI fills this </a:t>
            </a:r>
            <a:r>
              <a:rPr lang="en-US" sz="1050" b="1" dirty="0">
                <a:solidFill>
                  <a:srgbClr val="FF6A00"/>
                </a:solidFill>
                <a:latin typeface="Calibri"/>
                <a:cs typeface="Calibri"/>
              </a:rPr>
              <a:t>)</a:t>
            </a:r>
            <a:endParaRPr lang="en-US" sz="1050" b="1" i="0" dirty="0">
              <a:solidFill>
                <a:srgbClr val="FF6A00"/>
              </a:solidFill>
              <a:latin typeface="Calibri"/>
              <a:cs typeface="Calibri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00" b="0" i="0" dirty="0">
                <a:solidFill>
                  <a:srgbClr val="C7CCDA"/>
                </a:solidFill>
                <a:latin typeface="Calibri"/>
                <a:cs typeface="Calibri"/>
              </a:rPr>
              <a:t>+ confidence map</a:t>
            </a:r>
          </a:p>
        </p:txBody>
      </p:sp>
      <p:sp>
        <p:nvSpPr>
          <p:cNvPr id="107" name="arrow107"/>
          <p:cNvSpPr/>
          <p:nvPr/>
        </p:nvSpPr>
        <p:spPr>
          <a:xfrm>
            <a:off x="5837009" y="1390000"/>
            <a:ext cx="520000" cy="140000"/>
          </a:xfrm>
          <a:prstGeom prst="rightArrow">
            <a:avLst/>
          </a:prstGeom>
          <a:solidFill>
            <a:srgbClr val="FF6A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card108"/>
          <p:cNvSpPr/>
          <p:nvPr/>
        </p:nvSpPr>
        <p:spPr>
          <a:xfrm>
            <a:off x="6447009" y="1080000"/>
            <a:ext cx="2350000" cy="760000"/>
          </a:xfrm>
          <a:prstGeom prst="roundRect">
            <a:avLst>
              <a:gd name="adj" fmla="val 8000"/>
            </a:avLst>
          </a:prstGeom>
          <a:solidFill>
            <a:srgbClr val="151B30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9" name="tb109"/>
          <p:cNvSpPr txBox="1"/>
          <p:nvPr/>
        </p:nvSpPr>
        <p:spPr>
          <a:xfrm>
            <a:off x="6447009" y="1080000"/>
            <a:ext cx="235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 b="1" i="0">
                <a:solidFill>
                  <a:srgbClr val="FFFFFF"/>
                </a:solidFill>
                <a:latin typeface="Calibri"/>
                <a:cs typeface="Calibri"/>
              </a:rPr>
              <a:t>Frame B · t = 30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00" b="0" i="0">
                <a:solidFill>
                  <a:srgbClr val="8089A8"/>
                </a:solidFill>
                <a:latin typeface="Calibri"/>
                <a:cs typeface="Calibri"/>
              </a:rPr>
              <a:t>real INSAT frame</a:t>
            </a:r>
          </a:p>
        </p:txBody>
      </p:sp>
      <p:sp>
        <p:nvSpPr>
          <p:cNvPr id="110" name="card110"/>
          <p:cNvSpPr/>
          <p:nvPr/>
        </p:nvSpPr>
        <p:spPr>
          <a:xfrm>
            <a:off x="450000" y="2020000"/>
            <a:ext cx="2634672" cy="1395000"/>
          </a:xfrm>
          <a:prstGeom prst="roundRect">
            <a:avLst>
              <a:gd name="adj" fmla="val 7000"/>
            </a:avLst>
          </a:prstGeom>
          <a:solidFill>
            <a:srgbClr val="151B30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1" name="badge111"/>
          <p:cNvSpPr/>
          <p:nvPr/>
        </p:nvSpPr>
        <p:spPr>
          <a:xfrm>
            <a:off x="610000" y="2170000"/>
            <a:ext cx="340000" cy="34000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r>
              <a:rPr lang="en-US" sz="1250" b="1">
                <a:solidFill>
                  <a:srgbClr val="0A0E1A"/>
                </a:solidFill>
                <a:latin typeface="Arial"/>
              </a:rPr>
              <a:t>1</a:t>
            </a:r>
          </a:p>
        </p:txBody>
      </p:sp>
      <p:sp>
        <p:nvSpPr>
          <p:cNvPr id="112" name="tb112"/>
          <p:cNvSpPr txBox="1"/>
          <p:nvPr/>
        </p:nvSpPr>
        <p:spPr>
          <a:xfrm>
            <a:off x="1010000" y="2170000"/>
            <a:ext cx="1914672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 b="1" i="0">
                <a:solidFill>
                  <a:srgbClr val="FFFFFF"/>
                </a:solidFill>
                <a:latin typeface="Arial"/>
                <a:cs typeface="Arial"/>
              </a:rPr>
              <a:t>Physics-Preserving Pipeline</a:t>
            </a:r>
          </a:p>
        </p:txBody>
      </p:sp>
      <p:sp>
        <p:nvSpPr>
          <p:cNvPr id="113" name="tb113"/>
          <p:cNvSpPr txBox="1"/>
          <p:nvPr/>
        </p:nvSpPr>
        <p:spPr>
          <a:xfrm>
            <a:off x="610000" y="2640000"/>
            <a:ext cx="2314672" cy="31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00" b="0" i="0" dirty="0">
                <a:solidFill>
                  <a:srgbClr val="C7CCDA"/>
                </a:solidFill>
                <a:latin typeface="Calibri"/>
                <a:cs typeface="Calibri"/>
              </a:rPr>
              <a:t>Brightness temperature stays in Kelvin throughout , percentile-normalized, never flattened.</a:t>
            </a:r>
          </a:p>
        </p:txBody>
      </p:sp>
      <p:sp>
        <p:nvSpPr>
          <p:cNvPr id="114" name="card114"/>
          <p:cNvSpPr/>
          <p:nvPr/>
        </p:nvSpPr>
        <p:spPr>
          <a:xfrm>
            <a:off x="3254672" y="2020000"/>
            <a:ext cx="2634672" cy="1395000"/>
          </a:xfrm>
          <a:prstGeom prst="roundRect">
            <a:avLst>
              <a:gd name="adj" fmla="val 7000"/>
            </a:avLst>
          </a:prstGeom>
          <a:solidFill>
            <a:srgbClr val="151B30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5" name="badge115"/>
          <p:cNvSpPr/>
          <p:nvPr/>
        </p:nvSpPr>
        <p:spPr>
          <a:xfrm>
            <a:off x="3414672" y="2170000"/>
            <a:ext cx="340000" cy="34000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r>
              <a:rPr lang="en-US" sz="1250" b="1">
                <a:solidFill>
                  <a:srgbClr val="0A0E1A"/>
                </a:solidFill>
                <a:latin typeface="Arial"/>
              </a:rPr>
              <a:t>2</a:t>
            </a:r>
          </a:p>
        </p:txBody>
      </p:sp>
      <p:sp>
        <p:nvSpPr>
          <p:cNvPr id="116" name="tb116"/>
          <p:cNvSpPr txBox="1"/>
          <p:nvPr/>
        </p:nvSpPr>
        <p:spPr>
          <a:xfrm>
            <a:off x="3814672" y="2170000"/>
            <a:ext cx="1914672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 b="1" i="0">
                <a:solidFill>
                  <a:srgbClr val="FFFFFF"/>
                </a:solidFill>
                <a:latin typeface="Arial"/>
                <a:cs typeface="Arial"/>
              </a:rPr>
              <a:t>Dual-Scale Flow Estimation</a:t>
            </a:r>
          </a:p>
        </p:txBody>
      </p:sp>
      <p:sp>
        <p:nvSpPr>
          <p:cNvPr id="117" name="tb117"/>
          <p:cNvSpPr txBox="1"/>
          <p:nvPr/>
        </p:nvSpPr>
        <p:spPr>
          <a:xfrm>
            <a:off x="3414672" y="2640000"/>
            <a:ext cx="2314672" cy="31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00" b="0" i="0">
                <a:solidFill>
                  <a:srgbClr val="C7CCDA"/>
                </a:solidFill>
                <a:latin typeface="Calibri"/>
                <a:cs typeface="Calibri"/>
              </a:rPr>
              <a:t>RAFT at two resolutions: coarse for system drift, fine for convective cells. Fused before synthesis.</a:t>
            </a:r>
          </a:p>
        </p:txBody>
      </p:sp>
      <p:sp>
        <p:nvSpPr>
          <p:cNvPr id="118" name="ell118"/>
          <p:cNvSpPr/>
          <p:nvPr/>
        </p:nvSpPr>
        <p:spPr>
          <a:xfrm>
            <a:off x="3414672" y="2985000"/>
            <a:ext cx="1000000" cy="380000"/>
          </a:xfrm>
          <a:prstGeom prst="ellipse">
            <a:avLst/>
          </a:prstGeom>
          <a:noFill/>
          <a:ln w="12700">
            <a:solidFill>
              <a:srgbClr val="4B6F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9" name="ell119"/>
          <p:cNvSpPr/>
          <p:nvPr/>
        </p:nvSpPr>
        <p:spPr>
          <a:xfrm>
            <a:off x="3684672" y="3075000"/>
            <a:ext cx="460000" cy="200000"/>
          </a:xfrm>
          <a:prstGeom prst="ellipse">
            <a:avLst/>
          </a:prstGeom>
          <a:noFill/>
          <a:ln w="12700">
            <a:solidFill>
              <a:srgbClr val="FF6A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0" name="tb120"/>
          <p:cNvSpPr txBox="1"/>
          <p:nvPr/>
        </p:nvSpPr>
        <p:spPr>
          <a:xfrm>
            <a:off x="4244672" y="3262040"/>
            <a:ext cx="2314672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800" b="0" i="0" dirty="0">
                <a:solidFill>
                  <a:schemeClr val="bg1">
                    <a:lumMod val="85000"/>
                  </a:schemeClr>
                </a:solidFill>
                <a:latin typeface="Calibri"/>
                <a:cs typeface="Calibri"/>
              </a:rPr>
              <a:t>mesoscale (blue) + convective (orange)</a:t>
            </a:r>
          </a:p>
        </p:txBody>
      </p:sp>
      <p:sp>
        <p:nvSpPr>
          <p:cNvPr id="121" name="card121"/>
          <p:cNvSpPr/>
          <p:nvPr/>
        </p:nvSpPr>
        <p:spPr>
          <a:xfrm>
            <a:off x="6059344" y="2020000"/>
            <a:ext cx="2634672" cy="1395000"/>
          </a:xfrm>
          <a:prstGeom prst="roundRect">
            <a:avLst>
              <a:gd name="adj" fmla="val 7000"/>
            </a:avLst>
          </a:prstGeom>
          <a:solidFill>
            <a:srgbClr val="151B30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2" name="badge122"/>
          <p:cNvSpPr/>
          <p:nvPr/>
        </p:nvSpPr>
        <p:spPr>
          <a:xfrm>
            <a:off x="6219344" y="2170000"/>
            <a:ext cx="340000" cy="34000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r>
              <a:rPr lang="en-US" sz="1250" b="1">
                <a:solidFill>
                  <a:srgbClr val="0A0E1A"/>
                </a:solidFill>
                <a:latin typeface="Arial"/>
              </a:rPr>
              <a:t>3</a:t>
            </a:r>
          </a:p>
        </p:txBody>
      </p:sp>
      <p:sp>
        <p:nvSpPr>
          <p:cNvPr id="123" name="tb123"/>
          <p:cNvSpPr txBox="1"/>
          <p:nvPr/>
        </p:nvSpPr>
        <p:spPr>
          <a:xfrm>
            <a:off x="6619344" y="2170000"/>
            <a:ext cx="1914672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 b="1" i="0">
                <a:solidFill>
                  <a:srgbClr val="FFFFFF"/>
                </a:solidFill>
                <a:latin typeface="Arial"/>
                <a:cs typeface="Arial"/>
              </a:rPr>
              <a:t>Satellite-Native Synthesis</a:t>
            </a:r>
          </a:p>
        </p:txBody>
      </p:sp>
      <p:sp>
        <p:nvSpPr>
          <p:cNvPr id="124" name="tb124"/>
          <p:cNvSpPr txBox="1"/>
          <p:nvPr/>
        </p:nvSpPr>
        <p:spPr>
          <a:xfrm>
            <a:off x="6219344" y="2640000"/>
            <a:ext cx="2314672" cy="31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  <a:spcAft>
                <a:spcPts val="400"/>
              </a:spcAft>
            </a:pPr>
            <a:r>
              <a:rPr lang="en-IN" sz="900" dirty="0">
                <a:solidFill>
                  <a:schemeClr val="bg1">
                    <a:lumMod val="75000"/>
                  </a:schemeClr>
                </a:solidFill>
              </a:rPr>
              <a:t>Satellite-adapted RIFE interpolation preserves cloud boundaries and reduces blur artifacts during rapid cloud movement</a:t>
            </a:r>
            <a:r>
              <a:rPr lang="en-US" sz="900" b="0" i="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125" name="card125"/>
          <p:cNvSpPr/>
          <p:nvPr/>
        </p:nvSpPr>
        <p:spPr>
          <a:xfrm>
            <a:off x="450000" y="3565000"/>
            <a:ext cx="2634672" cy="1395000"/>
          </a:xfrm>
          <a:prstGeom prst="roundRect">
            <a:avLst>
              <a:gd name="adj" fmla="val 7000"/>
            </a:avLst>
          </a:prstGeom>
          <a:solidFill>
            <a:srgbClr val="151B30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6" name="badge126"/>
          <p:cNvSpPr/>
          <p:nvPr/>
        </p:nvSpPr>
        <p:spPr>
          <a:xfrm>
            <a:off x="610000" y="3715000"/>
            <a:ext cx="340000" cy="34000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r>
              <a:rPr lang="en-US" sz="1250" b="1">
                <a:solidFill>
                  <a:srgbClr val="0A0E1A"/>
                </a:solidFill>
                <a:latin typeface="Arial"/>
              </a:rPr>
              <a:t>4</a:t>
            </a:r>
          </a:p>
        </p:txBody>
      </p:sp>
      <p:sp>
        <p:nvSpPr>
          <p:cNvPr id="127" name="tb127"/>
          <p:cNvSpPr txBox="1"/>
          <p:nvPr/>
        </p:nvSpPr>
        <p:spPr>
          <a:xfrm>
            <a:off x="1010000" y="3715000"/>
            <a:ext cx="1914672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 b="1" i="0">
                <a:solidFill>
                  <a:srgbClr val="FFFFFF"/>
                </a:solidFill>
                <a:latin typeface="Arial"/>
                <a:cs typeface="Arial"/>
              </a:rPr>
              <a:t>Per-Pixel Confidence Maps</a:t>
            </a:r>
          </a:p>
        </p:txBody>
      </p:sp>
      <p:sp>
        <p:nvSpPr>
          <p:cNvPr id="128" name="tb128"/>
          <p:cNvSpPr txBox="1"/>
          <p:nvPr/>
        </p:nvSpPr>
        <p:spPr>
          <a:xfrm>
            <a:off x="610000" y="4185000"/>
            <a:ext cx="2314672" cy="31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  <a:spcAft>
                <a:spcPts val="400"/>
              </a:spcAft>
            </a:pPr>
            <a:r>
              <a:rPr lang="en-IN" sz="900" dirty="0">
                <a:solidFill>
                  <a:schemeClr val="bg1">
                    <a:lumMod val="75000"/>
                  </a:schemeClr>
                </a:solidFill>
              </a:rPr>
              <a:t>Rapidly changing cloud regions are automatically flagged as uncertain, allowing </a:t>
            </a:r>
            <a:r>
              <a:rPr lang="en-IN" sz="900" dirty="0"/>
              <a:t>forecasters to identify less reliable synthesized areas</a:t>
            </a:r>
            <a:endParaRPr lang="en-US" sz="900" b="0" i="0" dirty="0">
              <a:solidFill>
                <a:srgbClr val="C7CCDA"/>
              </a:solidFill>
              <a:latin typeface="Calibri"/>
              <a:cs typeface="Calibri"/>
            </a:endParaRPr>
          </a:p>
        </p:txBody>
      </p:sp>
      <p:sp>
        <p:nvSpPr>
          <p:cNvPr id="129" name="rectout129"/>
          <p:cNvSpPr/>
          <p:nvPr/>
        </p:nvSpPr>
        <p:spPr>
          <a:xfrm>
            <a:off x="610000" y="4530000"/>
            <a:ext cx="1147336" cy="280000"/>
          </a:xfrm>
          <a:prstGeom prst="rect">
            <a:avLst/>
          </a:prstGeom>
          <a:solidFill>
            <a:srgbClr val="0F2A1C"/>
          </a:solidFill>
          <a:ln w="12700">
            <a:solidFill>
              <a:srgbClr val="3DBE6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0" name="tb130"/>
          <p:cNvSpPr txBox="1"/>
          <p:nvPr/>
        </p:nvSpPr>
        <p:spPr>
          <a:xfrm>
            <a:off x="610000" y="4530000"/>
            <a:ext cx="1147336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850" b="1" i="0">
                <a:solidFill>
                  <a:srgbClr val="3DBE6C"/>
                </a:solidFill>
                <a:latin typeface="Calibri"/>
                <a:cs typeface="Calibri"/>
              </a:rPr>
              <a:t>stable</a:t>
            </a:r>
          </a:p>
        </p:txBody>
      </p:sp>
      <p:sp>
        <p:nvSpPr>
          <p:cNvPr id="131" name="rectout131"/>
          <p:cNvSpPr/>
          <p:nvPr/>
        </p:nvSpPr>
        <p:spPr>
          <a:xfrm>
            <a:off x="1777336" y="4530000"/>
            <a:ext cx="1147336" cy="280000"/>
          </a:xfrm>
          <a:prstGeom prst="rect">
            <a:avLst/>
          </a:prstGeom>
          <a:solidFill>
            <a:srgbClr val="2A1A0F"/>
          </a:solidFill>
          <a:ln w="12700">
            <a:solidFill>
              <a:srgbClr val="FF6A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2" name="tb132"/>
          <p:cNvSpPr txBox="1"/>
          <p:nvPr/>
        </p:nvSpPr>
        <p:spPr>
          <a:xfrm>
            <a:off x="1777336" y="4530000"/>
            <a:ext cx="1147336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850" b="1" i="0">
                <a:solidFill>
                  <a:srgbClr val="FF6A00"/>
                </a:solidFill>
                <a:latin typeface="Calibri"/>
                <a:cs typeface="Calibri"/>
              </a:rPr>
              <a:t>forming</a:t>
            </a:r>
          </a:p>
        </p:txBody>
      </p:sp>
      <p:sp>
        <p:nvSpPr>
          <p:cNvPr id="133" name="card133"/>
          <p:cNvSpPr/>
          <p:nvPr/>
        </p:nvSpPr>
        <p:spPr>
          <a:xfrm>
            <a:off x="3254672" y="3565000"/>
            <a:ext cx="2634672" cy="1395000"/>
          </a:xfrm>
          <a:prstGeom prst="roundRect">
            <a:avLst>
              <a:gd name="adj" fmla="val 7000"/>
            </a:avLst>
          </a:prstGeom>
          <a:solidFill>
            <a:srgbClr val="151B30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4" name="badge134"/>
          <p:cNvSpPr/>
          <p:nvPr/>
        </p:nvSpPr>
        <p:spPr>
          <a:xfrm>
            <a:off x="3414672" y="3715000"/>
            <a:ext cx="340000" cy="34000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r>
              <a:rPr lang="en-US" sz="1250" b="1">
                <a:solidFill>
                  <a:srgbClr val="0A0E1A"/>
                </a:solidFill>
                <a:latin typeface="Arial"/>
              </a:rPr>
              <a:t>5</a:t>
            </a:r>
          </a:p>
        </p:txBody>
      </p:sp>
      <p:sp>
        <p:nvSpPr>
          <p:cNvPr id="135" name="tb135"/>
          <p:cNvSpPr txBox="1"/>
          <p:nvPr/>
        </p:nvSpPr>
        <p:spPr>
          <a:xfrm>
            <a:off x="3814672" y="3715000"/>
            <a:ext cx="1914672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 b="1" i="0">
                <a:solidFill>
                  <a:srgbClr val="FFFFFF"/>
                </a:solidFill>
                <a:latin typeface="Arial"/>
                <a:cs typeface="Arial"/>
              </a:rPr>
              <a:t>Pretrain → Fine-tune Transfer</a:t>
            </a:r>
          </a:p>
        </p:txBody>
      </p:sp>
      <p:sp>
        <p:nvSpPr>
          <p:cNvPr id="136" name="tb136"/>
          <p:cNvSpPr txBox="1"/>
          <p:nvPr/>
        </p:nvSpPr>
        <p:spPr>
          <a:xfrm>
            <a:off x="3414672" y="4185000"/>
            <a:ext cx="2314672" cy="31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00" b="0" i="0">
                <a:solidFill>
                  <a:srgbClr val="C7CCDA"/>
                </a:solidFill>
                <a:latin typeface="Calibri"/>
                <a:cs typeface="Calibri"/>
              </a:rPr>
              <a:t>Learns motion on GOES/Himawari (10-min truth), then fine-tunes natively on INSAT-3DS.</a:t>
            </a:r>
          </a:p>
        </p:txBody>
      </p:sp>
      <p:sp>
        <p:nvSpPr>
          <p:cNvPr id="137" name="badge137"/>
          <p:cNvSpPr/>
          <p:nvPr/>
        </p:nvSpPr>
        <p:spPr>
          <a:xfrm>
            <a:off x="3414672" y="4550000"/>
            <a:ext cx="230000" cy="230000"/>
          </a:xfrm>
          <a:prstGeom prst="ellipse">
            <a:avLst/>
          </a:prstGeom>
          <a:solidFill>
            <a:srgbClr val="4B6FF6"/>
          </a:solidFill>
          <a:ln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38" name="tb138"/>
          <p:cNvSpPr txBox="1"/>
          <p:nvPr/>
        </p:nvSpPr>
        <p:spPr>
          <a:xfrm>
            <a:off x="3354672" y="4790000"/>
            <a:ext cx="38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750" b="1" i="0">
                <a:solidFill>
                  <a:srgbClr val="C7CCDA"/>
                </a:solidFill>
                <a:latin typeface="Calibri"/>
                <a:cs typeface="Calibri"/>
              </a:rPr>
              <a:t>GOES</a:t>
            </a:r>
          </a:p>
        </p:txBody>
      </p:sp>
      <p:cxnSp>
        <p:nvCxnSpPr>
          <p:cNvPr id="139" name="line139"/>
          <p:cNvCxnSpPr/>
          <p:nvPr/>
        </p:nvCxnSpPr>
        <p:spPr>
          <a:xfrm>
            <a:off x="3644672" y="4665000"/>
            <a:ext cx="812336" cy="0"/>
          </a:xfrm>
          <a:prstGeom prst="line">
            <a:avLst/>
          </a:prstGeom>
          <a:ln w="9525">
            <a:solidFill>
              <a:srgbClr val="8089A8"/>
            </a:solidFill>
          </a:ln>
        </p:spPr>
      </p:cxnSp>
      <p:sp>
        <p:nvSpPr>
          <p:cNvPr id="140" name="badge140"/>
          <p:cNvSpPr/>
          <p:nvPr/>
        </p:nvSpPr>
        <p:spPr>
          <a:xfrm>
            <a:off x="4457008" y="4550000"/>
            <a:ext cx="230000" cy="230000"/>
          </a:xfrm>
          <a:prstGeom prst="ellipse">
            <a:avLst/>
          </a:prstGeom>
          <a:solidFill>
            <a:srgbClr val="4B6FF6"/>
          </a:solidFill>
          <a:ln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41" name="tb141"/>
          <p:cNvSpPr txBox="1"/>
          <p:nvPr/>
        </p:nvSpPr>
        <p:spPr>
          <a:xfrm>
            <a:off x="4397008" y="4790000"/>
            <a:ext cx="38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750" b="1" i="0">
                <a:solidFill>
                  <a:srgbClr val="C7CCDA"/>
                </a:solidFill>
                <a:latin typeface="Calibri"/>
                <a:cs typeface="Calibri"/>
              </a:rPr>
              <a:t>HIMA</a:t>
            </a:r>
          </a:p>
        </p:txBody>
      </p:sp>
      <p:cxnSp>
        <p:nvCxnSpPr>
          <p:cNvPr id="142" name="line142"/>
          <p:cNvCxnSpPr/>
          <p:nvPr/>
        </p:nvCxnSpPr>
        <p:spPr>
          <a:xfrm>
            <a:off x="4687008" y="4665000"/>
            <a:ext cx="812336" cy="0"/>
          </a:xfrm>
          <a:prstGeom prst="line">
            <a:avLst/>
          </a:prstGeom>
          <a:ln w="9525">
            <a:solidFill>
              <a:srgbClr val="8089A8"/>
            </a:solidFill>
          </a:ln>
        </p:spPr>
      </p:cxnSp>
      <p:sp>
        <p:nvSpPr>
          <p:cNvPr id="143" name="badge143"/>
          <p:cNvSpPr/>
          <p:nvPr/>
        </p:nvSpPr>
        <p:spPr>
          <a:xfrm>
            <a:off x="5499344" y="4550000"/>
            <a:ext cx="230000" cy="23000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44" name="tb144"/>
          <p:cNvSpPr txBox="1"/>
          <p:nvPr/>
        </p:nvSpPr>
        <p:spPr>
          <a:xfrm>
            <a:off x="5439344" y="4790000"/>
            <a:ext cx="38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750" b="1" i="0">
                <a:solidFill>
                  <a:srgbClr val="C7CCDA"/>
                </a:solidFill>
                <a:latin typeface="Calibri"/>
                <a:cs typeface="Calibri"/>
              </a:rPr>
              <a:t>INSAT</a:t>
            </a:r>
          </a:p>
        </p:txBody>
      </p:sp>
      <p:sp>
        <p:nvSpPr>
          <p:cNvPr id="145" name="card145"/>
          <p:cNvSpPr/>
          <p:nvPr/>
        </p:nvSpPr>
        <p:spPr>
          <a:xfrm>
            <a:off x="6059344" y="3565000"/>
            <a:ext cx="2634672" cy="1395000"/>
          </a:xfrm>
          <a:prstGeom prst="roundRect">
            <a:avLst>
              <a:gd name="adj" fmla="val 7000"/>
            </a:avLst>
          </a:prstGeom>
          <a:solidFill>
            <a:srgbClr val="151B30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6" name="badge146"/>
          <p:cNvSpPr/>
          <p:nvPr/>
        </p:nvSpPr>
        <p:spPr>
          <a:xfrm>
            <a:off x="6219344" y="3715000"/>
            <a:ext cx="340000" cy="34000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r>
              <a:rPr lang="en-US" sz="1250" b="1">
                <a:solidFill>
                  <a:srgbClr val="0A0E1A"/>
                </a:solidFill>
                <a:latin typeface="Arial"/>
              </a:rPr>
              <a:t>6</a:t>
            </a:r>
          </a:p>
        </p:txBody>
      </p:sp>
      <p:sp>
        <p:nvSpPr>
          <p:cNvPr id="147" name="tb147"/>
          <p:cNvSpPr txBox="1"/>
          <p:nvPr/>
        </p:nvSpPr>
        <p:spPr>
          <a:xfrm>
            <a:off x="6619344" y="3715000"/>
            <a:ext cx="1914672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 b="1" i="0">
                <a:solidFill>
                  <a:srgbClr val="FFFFFF"/>
                </a:solidFill>
                <a:latin typeface="Arial"/>
                <a:cs typeface="Arial"/>
              </a:rPr>
              <a:t>Metrics-Rich Dashboard</a:t>
            </a:r>
          </a:p>
        </p:txBody>
      </p:sp>
      <p:sp>
        <p:nvSpPr>
          <p:cNvPr id="148" name="tb148"/>
          <p:cNvSpPr txBox="1"/>
          <p:nvPr/>
        </p:nvSpPr>
        <p:spPr>
          <a:xfrm>
            <a:off x="6219344" y="4185000"/>
            <a:ext cx="2314672" cy="31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00" b="0" i="0">
                <a:solidFill>
                  <a:srgbClr val="C7CCDA"/>
                </a:solidFill>
                <a:latin typeface="Calibri"/>
                <a:cs typeface="Calibri"/>
              </a:rPr>
              <a:t>MSE, PSNR, SSIM, FSIM, plus novel Cloud Motion Score &amp; Temporal Consistency Score.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bg130"/>
          <p:cNvSpPr/>
          <p:nvPr/>
        </p:nvSpPr>
        <p:spPr>
          <a:xfrm>
            <a:off x="0" y="0"/>
            <a:ext cx="9144018" cy="5143501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" name="bgpic" title="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tb101"/>
          <p:cNvSpPr txBox="1"/>
          <p:nvPr/>
        </p:nvSpPr>
        <p:spPr>
          <a:xfrm>
            <a:off x="450000" y="600000"/>
            <a:ext cx="8244018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Arial"/>
                <a:cs typeface="Arial"/>
              </a:rPr>
              <a:t>How It Works-End to End (Process flow Diagram</a:t>
            </a:r>
            <a:r>
              <a:rPr lang="en-US" sz="3000" b="1" i="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102" name="tb102"/>
          <p:cNvSpPr txBox="1"/>
          <p:nvPr/>
        </p:nvSpPr>
        <p:spPr>
          <a:xfrm>
            <a:off x="450000" y="1080000"/>
            <a:ext cx="8244018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0" i="1">
                <a:solidFill>
                  <a:srgbClr val="C7CCDA"/>
                </a:solidFill>
                <a:latin typeface="Calibri"/>
                <a:cs typeface="Calibri"/>
              </a:rPr>
              <a:t>From raw satellite data to trusted synthetic frames.</a:t>
            </a:r>
          </a:p>
        </p:txBody>
      </p:sp>
      <p:sp>
        <p:nvSpPr>
          <p:cNvPr id="103" name="card103"/>
          <p:cNvSpPr/>
          <p:nvPr/>
        </p:nvSpPr>
        <p:spPr>
          <a:xfrm>
            <a:off x="450000" y="1480000"/>
            <a:ext cx="3972009" cy="400000"/>
          </a:xfrm>
          <a:prstGeom prst="roundRect">
            <a:avLst>
              <a:gd name="adj" fmla="val 8000"/>
            </a:avLst>
          </a:prstGeom>
          <a:solidFill>
            <a:srgbClr val="151B30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" name="tb104"/>
          <p:cNvSpPr txBox="1"/>
          <p:nvPr/>
        </p:nvSpPr>
        <p:spPr>
          <a:xfrm>
            <a:off x="670000" y="1480000"/>
            <a:ext cx="3532009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50" b="1" i="0" dirty="0">
                <a:solidFill>
                  <a:srgbClr val="FFFFFF"/>
                </a:solidFill>
                <a:latin typeface="Arial"/>
                <a:cs typeface="Arial"/>
              </a:rPr>
              <a:t>Data Ingestion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0" i="0" dirty="0">
                <a:solidFill>
                  <a:srgbClr val="C7CCDA"/>
                </a:solidFill>
                <a:latin typeface="Calibri"/>
                <a:cs typeface="Calibri"/>
              </a:rPr>
              <a:t>GOES-19 · Himawari · INSAT  : .</a:t>
            </a:r>
            <a:r>
              <a:rPr lang="en-US" sz="950" b="0" i="0" dirty="0" err="1">
                <a:solidFill>
                  <a:srgbClr val="C7CCDA"/>
                </a:solidFill>
                <a:latin typeface="Calibri"/>
                <a:cs typeface="Calibri"/>
              </a:rPr>
              <a:t>nc</a:t>
            </a:r>
            <a:r>
              <a:rPr lang="en-US" sz="950" b="0" i="0" dirty="0">
                <a:solidFill>
                  <a:srgbClr val="C7CCDA"/>
                </a:solidFill>
                <a:latin typeface="Calibri"/>
                <a:cs typeface="Calibri"/>
              </a:rPr>
              <a:t> files, Kelvin preserved</a:t>
            </a:r>
          </a:p>
        </p:txBody>
      </p:sp>
      <p:sp>
        <p:nvSpPr>
          <p:cNvPr id="105" name="card105"/>
          <p:cNvSpPr/>
          <p:nvPr/>
        </p:nvSpPr>
        <p:spPr>
          <a:xfrm>
            <a:off x="4722009" y="1480000"/>
            <a:ext cx="3972009" cy="400000"/>
          </a:xfrm>
          <a:prstGeom prst="roundRect">
            <a:avLst>
              <a:gd name="adj" fmla="val 8000"/>
            </a:avLst>
          </a:prstGeom>
          <a:solidFill>
            <a:srgbClr val="151B30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6" name="tb106"/>
          <p:cNvSpPr txBox="1"/>
          <p:nvPr/>
        </p:nvSpPr>
        <p:spPr>
          <a:xfrm>
            <a:off x="4942009" y="1480000"/>
            <a:ext cx="3532009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50" b="1" i="0" dirty="0">
                <a:solidFill>
                  <a:srgbClr val="FFFFFF"/>
                </a:solidFill>
                <a:latin typeface="Arial"/>
                <a:cs typeface="Arial"/>
              </a:rPr>
              <a:t>Preprocessing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0" i="0" dirty="0">
                <a:solidFill>
                  <a:srgbClr val="C7CCDA"/>
                </a:solidFill>
                <a:latin typeface="Calibri"/>
                <a:cs typeface="Calibri"/>
              </a:rPr>
              <a:t>Percentile clipping : physical meaning kept intact</a:t>
            </a:r>
          </a:p>
        </p:txBody>
      </p:sp>
      <p:cxnSp>
        <p:nvCxnSpPr>
          <p:cNvPr id="107" name="conn107"/>
          <p:cNvCxnSpPr/>
          <p:nvPr/>
        </p:nvCxnSpPr>
        <p:spPr>
          <a:xfrm>
            <a:off x="4422009" y="1680000"/>
            <a:ext cx="300000" cy="1"/>
          </a:xfrm>
          <a:prstGeom prst="line">
            <a:avLst/>
          </a:prstGeom>
          <a:ln w="12700">
            <a:solidFill>
              <a:srgbClr val="8089A8"/>
            </a:solidFill>
            <a:prstDash val="dash"/>
            <a:tailEnd type="triangle" w="med" len="med"/>
          </a:ln>
        </p:spPr>
      </p:cxnSp>
      <p:sp>
        <p:nvSpPr>
          <p:cNvPr id="108" name="card108"/>
          <p:cNvSpPr/>
          <p:nvPr/>
        </p:nvSpPr>
        <p:spPr>
          <a:xfrm>
            <a:off x="1672009" y="2070000"/>
            <a:ext cx="5800000" cy="400000"/>
          </a:xfrm>
          <a:prstGeom prst="roundRect">
            <a:avLst>
              <a:gd name="adj" fmla="val 8000"/>
            </a:avLst>
          </a:prstGeom>
          <a:solidFill>
            <a:srgbClr val="151B30"/>
          </a:solidFill>
          <a:ln w="9525">
            <a:solidFill>
              <a:srgbClr val="4B6F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9" name="tb109"/>
          <p:cNvSpPr txBox="1"/>
          <p:nvPr/>
        </p:nvSpPr>
        <p:spPr>
          <a:xfrm>
            <a:off x="1922009" y="2070000"/>
            <a:ext cx="53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Arial"/>
                <a:cs typeface="Arial"/>
              </a:rPr>
              <a:t>Dual-Scale Optical Flow (RAFT)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0" i="0">
                <a:solidFill>
                  <a:srgbClr val="C7CCDA"/>
                </a:solidFill>
                <a:latin typeface="Calibri"/>
                <a:cs typeface="Calibri"/>
              </a:rPr>
              <a:t>Coarse: cyclone drift (1/8 res)  ·  Fine: convective cells (1/2 res) → fused</a:t>
            </a:r>
          </a:p>
        </p:txBody>
      </p:sp>
      <p:cxnSp>
        <p:nvCxnSpPr>
          <p:cNvPr id="110" name="conn110"/>
          <p:cNvCxnSpPr/>
          <p:nvPr/>
        </p:nvCxnSpPr>
        <p:spPr>
          <a:xfrm flipH="1">
            <a:off x="4572009" y="1880000"/>
            <a:ext cx="2136004" cy="190000"/>
          </a:xfrm>
          <a:prstGeom prst="line">
            <a:avLst/>
          </a:prstGeom>
          <a:ln w="12700">
            <a:solidFill>
              <a:srgbClr val="8089A8"/>
            </a:solidFill>
            <a:tailEnd type="triangle" w="med" len="med"/>
          </a:ln>
        </p:spPr>
      </p:cxnSp>
      <p:sp>
        <p:nvSpPr>
          <p:cNvPr id="111" name="card111"/>
          <p:cNvSpPr/>
          <p:nvPr/>
        </p:nvSpPr>
        <p:spPr>
          <a:xfrm>
            <a:off x="1672009" y="2660000"/>
            <a:ext cx="5800000" cy="400000"/>
          </a:xfrm>
          <a:prstGeom prst="roundRect">
            <a:avLst>
              <a:gd name="adj" fmla="val 8000"/>
            </a:avLst>
          </a:prstGeom>
          <a:solidFill>
            <a:srgbClr val="151B30"/>
          </a:solidFill>
          <a:ln w="9525">
            <a:solidFill>
              <a:srgbClr val="FF6A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2" name="tb112"/>
          <p:cNvSpPr txBox="1"/>
          <p:nvPr/>
        </p:nvSpPr>
        <p:spPr>
          <a:xfrm>
            <a:off x="1922009" y="2660000"/>
            <a:ext cx="53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Arial"/>
                <a:cs typeface="Arial"/>
              </a:rPr>
              <a:t>Frame Synthesis (Modified RIFE)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0" i="0">
                <a:solidFill>
                  <a:srgbClr val="C7CCDA"/>
                </a:solidFill>
                <a:latin typeface="Calibri"/>
                <a:cs typeface="Calibri"/>
              </a:rPr>
              <a:t>Frame A + Frame B + fused flow → t = 15 min  ·  Loss: L1 + perceptual + Laplacian edge</a:t>
            </a:r>
          </a:p>
        </p:txBody>
      </p:sp>
      <p:sp>
        <p:nvSpPr>
          <p:cNvPr id="113" name="darrow113"/>
          <p:cNvSpPr/>
          <p:nvPr/>
        </p:nvSpPr>
        <p:spPr>
          <a:xfrm>
            <a:off x="4482009" y="2520000"/>
            <a:ext cx="180000" cy="130000"/>
          </a:xfrm>
          <a:prstGeom prst="downArrow">
            <a:avLst/>
          </a:prstGeom>
          <a:solidFill>
            <a:srgbClr val="8089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card114"/>
          <p:cNvSpPr/>
          <p:nvPr/>
        </p:nvSpPr>
        <p:spPr>
          <a:xfrm>
            <a:off x="450000" y="3250000"/>
            <a:ext cx="3972009" cy="400000"/>
          </a:xfrm>
          <a:prstGeom prst="roundRect">
            <a:avLst>
              <a:gd name="adj" fmla="val 8000"/>
            </a:avLst>
          </a:prstGeom>
          <a:solidFill>
            <a:srgbClr val="151B30"/>
          </a:solidFill>
          <a:ln w="9525">
            <a:solidFill>
              <a:srgbClr val="FF6A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5" name="tb115"/>
          <p:cNvSpPr txBox="1"/>
          <p:nvPr/>
        </p:nvSpPr>
        <p:spPr>
          <a:xfrm>
            <a:off x="670000" y="3250000"/>
            <a:ext cx="3532009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50" b="1" i="0" dirty="0">
                <a:solidFill>
                  <a:srgbClr val="FFFFFF"/>
                </a:solidFill>
                <a:latin typeface="Arial"/>
                <a:cs typeface="Arial"/>
              </a:rPr>
              <a:t>Confidence Map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0" i="0" dirty="0">
                <a:solidFill>
                  <a:srgbClr val="C7CCDA"/>
                </a:solidFill>
                <a:latin typeface="Calibri"/>
                <a:cs typeface="Calibri"/>
              </a:rPr>
              <a:t>Per-pixel reliability 0→1  , flags forming / dissipating clouds</a:t>
            </a:r>
          </a:p>
        </p:txBody>
      </p:sp>
      <p:sp>
        <p:nvSpPr>
          <p:cNvPr id="116" name="card116"/>
          <p:cNvSpPr/>
          <p:nvPr/>
        </p:nvSpPr>
        <p:spPr>
          <a:xfrm>
            <a:off x="4722009" y="3250000"/>
            <a:ext cx="3972009" cy="400000"/>
          </a:xfrm>
          <a:prstGeom prst="roundRect">
            <a:avLst>
              <a:gd name="adj" fmla="val 8000"/>
            </a:avLst>
          </a:prstGeom>
          <a:solidFill>
            <a:srgbClr val="151B30"/>
          </a:solidFill>
          <a:ln w="9525">
            <a:solidFill>
              <a:srgbClr val="4B6F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7" name="tb117"/>
          <p:cNvSpPr txBox="1"/>
          <p:nvPr/>
        </p:nvSpPr>
        <p:spPr>
          <a:xfrm>
            <a:off x="4942009" y="3250000"/>
            <a:ext cx="3532009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50" b="1" i="0">
                <a:solidFill>
                  <a:srgbClr val="FFFFFF"/>
                </a:solidFill>
                <a:latin typeface="Arial"/>
                <a:cs typeface="Arial"/>
              </a:rPr>
              <a:t>Transfer Learning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0" i="0">
                <a:solidFill>
                  <a:srgbClr val="C7CCDA"/>
                </a:solidFill>
                <a:latin typeface="Calibri"/>
                <a:cs typeface="Calibri"/>
              </a:rPr>
              <a:t>Pretrain: GOES + Himawari  ·  Fine-tune: INSAT-3DS sensor</a:t>
            </a:r>
          </a:p>
        </p:txBody>
      </p:sp>
      <p:cxnSp>
        <p:nvCxnSpPr>
          <p:cNvPr id="118" name="conn118"/>
          <p:cNvCxnSpPr/>
          <p:nvPr/>
        </p:nvCxnSpPr>
        <p:spPr>
          <a:xfrm flipH="1">
            <a:off x="2436004" y="3060000"/>
            <a:ext cx="2136005" cy="190000"/>
          </a:xfrm>
          <a:prstGeom prst="line">
            <a:avLst/>
          </a:prstGeom>
          <a:ln w="12700">
            <a:solidFill>
              <a:srgbClr val="8089A8"/>
            </a:solidFill>
            <a:tailEnd type="triangle" w="med" len="med"/>
          </a:ln>
        </p:spPr>
      </p:cxnSp>
      <p:cxnSp>
        <p:nvCxnSpPr>
          <p:cNvPr id="119" name="conn119"/>
          <p:cNvCxnSpPr/>
          <p:nvPr/>
        </p:nvCxnSpPr>
        <p:spPr>
          <a:xfrm>
            <a:off x="4572009" y="3060000"/>
            <a:ext cx="2136004" cy="190000"/>
          </a:xfrm>
          <a:prstGeom prst="line">
            <a:avLst/>
          </a:prstGeom>
          <a:ln w="12700">
            <a:solidFill>
              <a:srgbClr val="8089A8"/>
            </a:solidFill>
            <a:tailEnd type="triangle" w="med" len="med"/>
          </a:ln>
        </p:spPr>
      </p:cxnSp>
      <p:sp>
        <p:nvSpPr>
          <p:cNvPr id="120" name="card120"/>
          <p:cNvSpPr/>
          <p:nvPr/>
        </p:nvSpPr>
        <p:spPr>
          <a:xfrm>
            <a:off x="450000" y="3840000"/>
            <a:ext cx="8244018" cy="400000"/>
          </a:xfrm>
          <a:prstGeom prst="roundRect">
            <a:avLst>
              <a:gd name="adj" fmla="val 9000"/>
            </a:avLst>
          </a:prstGeom>
          <a:solidFill>
            <a:srgbClr val="121734"/>
          </a:solidFill>
          <a:ln w="9525">
            <a:solidFill>
              <a:srgbClr val="4B6F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1" name="tb121"/>
          <p:cNvSpPr txBox="1"/>
          <p:nvPr/>
        </p:nvSpPr>
        <p:spPr>
          <a:xfrm>
            <a:off x="700000" y="3840000"/>
            <a:ext cx="7744018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Arial"/>
                <a:cs typeface="Arial"/>
              </a:rPr>
              <a:t>Validation + Dashboard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0" i="0">
                <a:solidFill>
                  <a:srgbClr val="C7CCDA"/>
                </a:solidFill>
                <a:latin typeface="Calibri"/>
                <a:cs typeface="Calibri"/>
              </a:rPr>
              <a:t>MSE · PSNR · SSIM · FSIM  ·  Cloud Motion Score · Temporal Consistency</a:t>
            </a:r>
          </a:p>
        </p:txBody>
      </p:sp>
      <p:sp>
        <p:nvSpPr>
          <p:cNvPr id="122" name="darrow122"/>
          <p:cNvSpPr/>
          <p:nvPr/>
        </p:nvSpPr>
        <p:spPr>
          <a:xfrm>
            <a:off x="2356004" y="3690000"/>
            <a:ext cx="160000" cy="130000"/>
          </a:xfrm>
          <a:prstGeom prst="downArrow">
            <a:avLst/>
          </a:prstGeom>
          <a:solidFill>
            <a:srgbClr val="8089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darrow123"/>
          <p:cNvSpPr/>
          <p:nvPr/>
        </p:nvSpPr>
        <p:spPr>
          <a:xfrm>
            <a:off x="6628013" y="3690000"/>
            <a:ext cx="160000" cy="130000"/>
          </a:xfrm>
          <a:prstGeom prst="downArrow">
            <a:avLst/>
          </a:prstGeom>
          <a:solidFill>
            <a:srgbClr val="8089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4" name="card124"/>
          <p:cNvSpPr/>
          <p:nvPr/>
        </p:nvSpPr>
        <p:spPr>
          <a:xfrm>
            <a:off x="450000" y="4390000"/>
            <a:ext cx="2614672" cy="495000"/>
          </a:xfrm>
          <a:prstGeom prst="roundRect">
            <a:avLst>
              <a:gd name="adj" fmla="val 40000"/>
            </a:avLst>
          </a:prstGeom>
          <a:solidFill>
            <a:srgbClr val="121734"/>
          </a:solidFill>
          <a:ln w="9525">
            <a:solidFill>
              <a:srgbClr val="4B6F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5" name="tb125"/>
          <p:cNvSpPr txBox="1"/>
          <p:nvPr/>
        </p:nvSpPr>
        <p:spPr>
          <a:xfrm>
            <a:off x="600000" y="4440000"/>
            <a:ext cx="2314672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lvl="0" algn="ctr">
              <a:lnSpc>
                <a:spcPct val="115000"/>
              </a:lnSpc>
              <a:spcAft>
                <a:spcPts val="400"/>
              </a:spcAft>
            </a:pPr>
            <a:r>
              <a:rPr lang="en-IN" sz="1000" dirty="0">
                <a:solidFill>
                  <a:schemeClr val="bg1">
                    <a:lumMod val="95000"/>
                  </a:schemeClr>
                </a:solidFill>
              </a:rPr>
              <a:t>Novel dual-scale optical flow architecture tailored for atmospheric motion</a:t>
            </a:r>
            <a:endParaRPr lang="en-US" sz="1000" b="1" i="0" dirty="0">
              <a:solidFill>
                <a:schemeClr val="bg1">
                  <a:lumMod val="9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126" name="card126"/>
          <p:cNvSpPr/>
          <p:nvPr/>
        </p:nvSpPr>
        <p:spPr>
          <a:xfrm>
            <a:off x="3264672" y="4390000"/>
            <a:ext cx="2614672" cy="360000"/>
          </a:xfrm>
          <a:prstGeom prst="roundRect">
            <a:avLst>
              <a:gd name="adj" fmla="val 40000"/>
            </a:avLst>
          </a:prstGeom>
          <a:solidFill>
            <a:srgbClr val="121734"/>
          </a:solidFill>
          <a:ln w="9525">
            <a:solidFill>
              <a:srgbClr val="FF6A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7" name="tb127"/>
          <p:cNvSpPr txBox="1"/>
          <p:nvPr/>
        </p:nvSpPr>
        <p:spPr>
          <a:xfrm>
            <a:off x="3414672" y="4390000"/>
            <a:ext cx="2314672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 b="1" i="0" dirty="0">
                <a:solidFill>
                  <a:schemeClr val="bg1">
                    <a:lumMod val="95000"/>
                  </a:schemeClr>
                </a:solidFill>
                <a:latin typeface="Calibri"/>
                <a:cs typeface="Calibri"/>
              </a:rPr>
              <a:t>Confidence maps </a:t>
            </a:r>
            <a:r>
              <a:rPr lang="en-US" sz="1100" b="1" dirty="0">
                <a:solidFill>
                  <a:schemeClr val="bg1">
                    <a:lumMod val="95000"/>
                  </a:schemeClr>
                </a:solidFill>
                <a:latin typeface="Calibri"/>
                <a:cs typeface="Calibri"/>
              </a:rPr>
              <a:t>(</a:t>
            </a:r>
            <a:r>
              <a:rPr lang="en-US" sz="1100" b="1" i="0" dirty="0">
                <a:solidFill>
                  <a:schemeClr val="bg1">
                    <a:lumMod val="95000"/>
                  </a:schemeClr>
                </a:solidFill>
                <a:latin typeface="Calibri"/>
                <a:cs typeface="Calibri"/>
              </a:rPr>
              <a:t> operational trust </a:t>
            </a:r>
            <a:r>
              <a:rPr lang="en-US" sz="1100" b="1" i="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)</a:t>
            </a:r>
          </a:p>
        </p:txBody>
      </p:sp>
      <p:sp>
        <p:nvSpPr>
          <p:cNvPr id="128" name="card128"/>
          <p:cNvSpPr/>
          <p:nvPr/>
        </p:nvSpPr>
        <p:spPr>
          <a:xfrm>
            <a:off x="6079344" y="4390000"/>
            <a:ext cx="2614672" cy="630000"/>
          </a:xfrm>
          <a:prstGeom prst="roundRect">
            <a:avLst>
              <a:gd name="adj" fmla="val 40000"/>
            </a:avLst>
          </a:prstGeom>
          <a:solidFill>
            <a:srgbClr val="121734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9" name="tb129"/>
          <p:cNvSpPr txBox="1"/>
          <p:nvPr/>
        </p:nvSpPr>
        <p:spPr>
          <a:xfrm>
            <a:off x="6229344" y="4525000"/>
            <a:ext cx="2314672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lvl="0" algn="ctr">
              <a:lnSpc>
                <a:spcPct val="115000"/>
              </a:lnSpc>
              <a:spcAft>
                <a:spcPts val="400"/>
              </a:spcAft>
            </a:pPr>
            <a:r>
              <a:rPr lang="en-IN" sz="900" dirty="0">
                <a:solidFill>
                  <a:schemeClr val="bg1"/>
                </a:solidFill>
              </a:rPr>
              <a:t>Our dual-scale architecture jointly models mesoscale drift and convective-scale cloud motion for improved atmospheric motion estimation.</a:t>
            </a:r>
            <a:endParaRPr lang="en-US" sz="900" b="1" i="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bg153"/>
          <p:cNvSpPr/>
          <p:nvPr/>
        </p:nvSpPr>
        <p:spPr>
          <a:xfrm>
            <a:off x="0" y="0"/>
            <a:ext cx="9144018" cy="5143501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" name="bgpic" title="b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tb101"/>
          <p:cNvSpPr txBox="1"/>
          <p:nvPr/>
        </p:nvSpPr>
        <p:spPr>
          <a:xfrm>
            <a:off x="450000" y="600000"/>
            <a:ext cx="8244018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400" b="1" i="0" u="none" dirty="0">
                <a:solidFill>
                  <a:srgbClr val="FFFFFF"/>
                </a:solidFill>
                <a:latin typeface="Arial"/>
                <a:cs typeface="Arial"/>
              </a:rPr>
              <a:t>What the Meteorologist Sees(Mock Diagram/Wireframes)</a:t>
            </a:r>
          </a:p>
        </p:txBody>
      </p:sp>
      <p:sp>
        <p:nvSpPr>
          <p:cNvPr id="102" name="tb102"/>
          <p:cNvSpPr txBox="1"/>
          <p:nvPr/>
        </p:nvSpPr>
        <p:spPr>
          <a:xfrm>
            <a:off x="450000" y="1080000"/>
            <a:ext cx="8244018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0" i="1" u="none" dirty="0">
                <a:solidFill>
                  <a:srgbClr val="C7CCDA"/>
                </a:solidFill>
                <a:latin typeface="Calibri"/>
                <a:cs typeface="Calibri"/>
              </a:rPr>
              <a:t>The dashboard : </a:t>
            </a:r>
            <a:r>
              <a:rPr lang="en-US" sz="1300" i="1" dirty="0">
                <a:solidFill>
                  <a:srgbClr val="C7CCDA"/>
                </a:solidFill>
                <a:latin typeface="Calibri"/>
                <a:cs typeface="Calibri"/>
              </a:rPr>
              <a:t>R</a:t>
            </a:r>
            <a:r>
              <a:rPr lang="en-US" sz="1300" b="0" i="1" u="none" dirty="0">
                <a:solidFill>
                  <a:srgbClr val="C7CCDA"/>
                </a:solidFill>
                <a:latin typeface="Calibri"/>
                <a:cs typeface="Calibri"/>
              </a:rPr>
              <a:t>eal frames, synthetic frames, confidence, and metrics, all in one view.</a:t>
            </a:r>
          </a:p>
        </p:txBody>
      </p:sp>
      <p:sp>
        <p:nvSpPr>
          <p:cNvPr id="103" name="card103"/>
          <p:cNvSpPr/>
          <p:nvPr/>
        </p:nvSpPr>
        <p:spPr>
          <a:xfrm>
            <a:off x="450000" y="1430000"/>
            <a:ext cx="8244018" cy="340000"/>
          </a:xfrm>
          <a:prstGeom prst="roundRect">
            <a:avLst>
              <a:gd name="adj" fmla="val 6000"/>
            </a:avLst>
          </a:prstGeom>
          <a:solidFill>
            <a:srgbClr val="151B30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" name="tb104"/>
          <p:cNvSpPr txBox="1"/>
          <p:nvPr/>
        </p:nvSpPr>
        <p:spPr>
          <a:xfrm>
            <a:off x="670000" y="1430000"/>
            <a:ext cx="55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lvl="0">
              <a:lnSpc>
                <a:spcPct val="115000"/>
              </a:lnSpc>
              <a:spcAft>
                <a:spcPts val="400"/>
              </a:spcAft>
            </a:pPr>
            <a:r>
              <a:rPr lang="en-US" sz="1050" b="0" i="0" u="none" dirty="0">
                <a:solidFill>
                  <a:srgbClr val="C7CCDA"/>
                </a:solidFill>
                <a:latin typeface="Calibri"/>
                <a:cs typeface="Calibri"/>
              </a:rPr>
              <a:t>Event: </a:t>
            </a:r>
            <a:r>
              <a:rPr lang="en-US" sz="1050" dirty="0">
                <a:solidFill>
                  <a:srgbClr val="C7CCDA"/>
                </a:solidFill>
                <a:latin typeface="Calibri"/>
                <a:cs typeface="Calibri"/>
              </a:rPr>
              <a:t>Cyclone </a:t>
            </a:r>
            <a:r>
              <a:rPr lang="en-US" sz="1050" dirty="0" err="1">
                <a:solidFill>
                  <a:srgbClr val="C7CCDA"/>
                </a:solidFill>
                <a:latin typeface="Calibri"/>
                <a:cs typeface="Calibri"/>
              </a:rPr>
              <a:t>Biparjoy</a:t>
            </a:r>
            <a:r>
              <a:rPr lang="en-US" sz="1050" dirty="0">
                <a:solidFill>
                  <a:srgbClr val="C7CCDA"/>
                </a:solidFill>
                <a:latin typeface="Calibri"/>
                <a:cs typeface="Calibri"/>
              </a:rPr>
              <a:t> (Gujarat)</a:t>
            </a:r>
            <a:r>
              <a:rPr lang="en-US" sz="1050" b="0" i="0" u="none" dirty="0">
                <a:solidFill>
                  <a:srgbClr val="C7CCDA"/>
                </a:solidFill>
                <a:latin typeface="Calibri"/>
                <a:cs typeface="Calibri"/>
              </a:rPr>
              <a:t>  ·  15 June 2023  ·  Channel: </a:t>
            </a:r>
            <a:r>
              <a:rPr lang="en-IN" sz="1050" dirty="0">
                <a:solidFill>
                  <a:srgbClr val="C7CCDA"/>
                </a:solidFill>
                <a:latin typeface="Calibri"/>
                <a:cs typeface="Calibri"/>
              </a:rPr>
              <a:t>INSAT-3DS </a:t>
            </a:r>
            <a:r>
              <a:rPr lang="en-US" sz="1050" b="0" i="0" u="none" dirty="0">
                <a:solidFill>
                  <a:srgbClr val="C7CCDA"/>
                </a:solidFill>
                <a:latin typeface="Calibri"/>
                <a:cs typeface="Calibri"/>
              </a:rPr>
              <a:t>TIR1</a:t>
            </a:r>
          </a:p>
        </p:txBody>
      </p:sp>
      <p:sp>
        <p:nvSpPr>
          <p:cNvPr id="105" name="card105"/>
          <p:cNvSpPr/>
          <p:nvPr/>
        </p:nvSpPr>
        <p:spPr>
          <a:xfrm>
            <a:off x="7594018" y="1490000"/>
            <a:ext cx="980000" cy="220000"/>
          </a:xfrm>
          <a:prstGeom prst="roundRect">
            <a:avLst>
              <a:gd name="adj" fmla="val 30000"/>
            </a:avLst>
          </a:prstGeom>
          <a:solidFill>
            <a:srgbClr val="0F2A1C"/>
          </a:solidFill>
          <a:ln w="9525">
            <a:solidFill>
              <a:srgbClr val="3DBE6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6" name="tb106"/>
          <p:cNvSpPr txBox="1"/>
          <p:nvPr/>
        </p:nvSpPr>
        <p:spPr>
          <a:xfrm>
            <a:off x="7594018" y="1490000"/>
            <a:ext cx="98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1" i="0" u="none">
                <a:solidFill>
                  <a:srgbClr val="3DBE6C"/>
                </a:solidFill>
                <a:latin typeface="Calibri"/>
                <a:cs typeface="Calibri"/>
              </a:rPr>
              <a:t>Export .nc</a:t>
            </a:r>
          </a:p>
        </p:txBody>
      </p:sp>
      <p:sp>
        <p:nvSpPr>
          <p:cNvPr id="107" name="card107"/>
          <p:cNvSpPr/>
          <p:nvPr/>
        </p:nvSpPr>
        <p:spPr>
          <a:xfrm>
            <a:off x="450000" y="1860000"/>
            <a:ext cx="2648006" cy="1280000"/>
          </a:xfrm>
          <a:prstGeom prst="roundRect">
            <a:avLst>
              <a:gd name="adj" fmla="val 8000"/>
            </a:avLst>
          </a:prstGeom>
          <a:solidFill>
            <a:srgbClr val="10142A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8" name="tb108"/>
          <p:cNvSpPr txBox="1"/>
          <p:nvPr/>
        </p:nvSpPr>
        <p:spPr>
          <a:xfrm>
            <a:off x="450000" y="1970000"/>
            <a:ext cx="264800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 b="1" i="0" u="none">
                <a:solidFill>
                  <a:srgbClr val="FFFFFF"/>
                </a:solidFill>
                <a:latin typeface="Calibri"/>
                <a:cs typeface="Calibri"/>
              </a:rPr>
              <a:t>t = 00:00</a:t>
            </a:r>
          </a:p>
        </p:txBody>
      </p:sp>
      <p:sp>
        <p:nvSpPr>
          <p:cNvPr id="109" name="ell109"/>
          <p:cNvSpPr/>
          <p:nvPr/>
        </p:nvSpPr>
        <p:spPr>
          <a:xfrm>
            <a:off x="1299003" y="2290000"/>
            <a:ext cx="950000" cy="420000"/>
          </a:xfrm>
          <a:prstGeom prst="ellipse">
            <a:avLst/>
          </a:prstGeom>
          <a:solidFill>
            <a:srgbClr val="4A5578"/>
          </a:solidFill>
          <a:ln w="100">
            <a:solidFill>
              <a:srgbClr val="4A557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0" name="ell110"/>
          <p:cNvSpPr/>
          <p:nvPr/>
        </p:nvSpPr>
        <p:spPr>
          <a:xfrm>
            <a:off x="1969003" y="2550000"/>
            <a:ext cx="420000" cy="270000"/>
          </a:xfrm>
          <a:prstGeom prst="ellipse">
            <a:avLst/>
          </a:prstGeom>
          <a:solidFill>
            <a:srgbClr val="5B6792"/>
          </a:solidFill>
          <a:ln w="100">
            <a:solidFill>
              <a:srgbClr val="5B679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1" name="tb111"/>
          <p:cNvSpPr txBox="1"/>
          <p:nvPr/>
        </p:nvSpPr>
        <p:spPr>
          <a:xfrm>
            <a:off x="450000" y="2840000"/>
            <a:ext cx="2648006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0" i="0" u="none">
                <a:solidFill>
                  <a:srgbClr val="8089A8"/>
                </a:solidFill>
                <a:latin typeface="Calibri"/>
                <a:cs typeface="Calibri"/>
              </a:rPr>
              <a:t>Real frame</a:t>
            </a:r>
          </a:p>
        </p:txBody>
      </p:sp>
      <p:sp>
        <p:nvSpPr>
          <p:cNvPr id="112" name="card112"/>
          <p:cNvSpPr/>
          <p:nvPr/>
        </p:nvSpPr>
        <p:spPr>
          <a:xfrm>
            <a:off x="3248006" y="1860000"/>
            <a:ext cx="2648006" cy="1280000"/>
          </a:xfrm>
          <a:prstGeom prst="roundRect">
            <a:avLst>
              <a:gd name="adj" fmla="val 8000"/>
            </a:avLst>
          </a:prstGeom>
          <a:solidFill>
            <a:srgbClr val="10142A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3" name="tb113"/>
          <p:cNvSpPr txBox="1"/>
          <p:nvPr/>
        </p:nvSpPr>
        <p:spPr>
          <a:xfrm>
            <a:off x="3248006" y="1970000"/>
            <a:ext cx="264800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 b="1" i="0" u="none">
                <a:solidFill>
                  <a:srgbClr val="FFFFFF"/>
                </a:solidFill>
                <a:latin typeface="Calibri"/>
                <a:cs typeface="Calibri"/>
              </a:rPr>
              <a:t>t = 00:30</a:t>
            </a:r>
          </a:p>
        </p:txBody>
      </p:sp>
      <p:sp>
        <p:nvSpPr>
          <p:cNvPr id="114" name="ell114"/>
          <p:cNvSpPr/>
          <p:nvPr/>
        </p:nvSpPr>
        <p:spPr>
          <a:xfrm>
            <a:off x="4097009" y="2290000"/>
            <a:ext cx="950000" cy="420000"/>
          </a:xfrm>
          <a:prstGeom prst="ellipse">
            <a:avLst/>
          </a:prstGeom>
          <a:solidFill>
            <a:srgbClr val="4A5578"/>
          </a:solidFill>
          <a:ln w="100">
            <a:solidFill>
              <a:srgbClr val="4A557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5" name="ell115"/>
          <p:cNvSpPr/>
          <p:nvPr/>
        </p:nvSpPr>
        <p:spPr>
          <a:xfrm>
            <a:off x="4767009" y="2550000"/>
            <a:ext cx="420000" cy="270000"/>
          </a:xfrm>
          <a:prstGeom prst="ellipse">
            <a:avLst/>
          </a:prstGeom>
          <a:solidFill>
            <a:srgbClr val="5B6792"/>
          </a:solidFill>
          <a:ln w="100">
            <a:solidFill>
              <a:srgbClr val="5B679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6" name="tb116"/>
          <p:cNvSpPr txBox="1"/>
          <p:nvPr/>
        </p:nvSpPr>
        <p:spPr>
          <a:xfrm>
            <a:off x="3248006" y="2840000"/>
            <a:ext cx="2648006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0" i="0" u="none">
                <a:solidFill>
                  <a:srgbClr val="8089A8"/>
                </a:solidFill>
                <a:latin typeface="Calibri"/>
                <a:cs typeface="Calibri"/>
              </a:rPr>
              <a:t>Real frame</a:t>
            </a:r>
          </a:p>
        </p:txBody>
      </p:sp>
      <p:sp>
        <p:nvSpPr>
          <p:cNvPr id="117" name="card117"/>
          <p:cNvSpPr/>
          <p:nvPr/>
        </p:nvSpPr>
        <p:spPr>
          <a:xfrm>
            <a:off x="6046012" y="1860000"/>
            <a:ext cx="2648006" cy="1280000"/>
          </a:xfrm>
          <a:prstGeom prst="roundRect">
            <a:avLst>
              <a:gd name="adj" fmla="val 8000"/>
            </a:avLst>
          </a:prstGeom>
          <a:solidFill>
            <a:srgbClr val="1E1430"/>
          </a:solidFill>
          <a:ln w="9525">
            <a:solidFill>
              <a:srgbClr val="FF6A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8" name="tb118"/>
          <p:cNvSpPr txBox="1"/>
          <p:nvPr/>
        </p:nvSpPr>
        <p:spPr>
          <a:xfrm>
            <a:off x="6046012" y="1970000"/>
            <a:ext cx="264800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 b="1" i="0" u="none">
                <a:solidFill>
                  <a:srgbClr val="FF6A00"/>
                </a:solidFill>
                <a:latin typeface="Calibri"/>
                <a:cs typeface="Calibri"/>
              </a:rPr>
              <a:t>t = 00:15  ← AI</a:t>
            </a:r>
          </a:p>
        </p:txBody>
      </p:sp>
      <p:sp>
        <p:nvSpPr>
          <p:cNvPr id="119" name="ell119"/>
          <p:cNvSpPr/>
          <p:nvPr/>
        </p:nvSpPr>
        <p:spPr>
          <a:xfrm>
            <a:off x="6895015" y="2290000"/>
            <a:ext cx="950000" cy="420000"/>
          </a:xfrm>
          <a:prstGeom prst="ellipse">
            <a:avLst/>
          </a:prstGeom>
          <a:solidFill>
            <a:srgbClr val="B85A2E"/>
          </a:solidFill>
          <a:ln w="100">
            <a:solidFill>
              <a:srgbClr val="B85A2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0" name="ell120"/>
          <p:cNvSpPr/>
          <p:nvPr/>
        </p:nvSpPr>
        <p:spPr>
          <a:xfrm>
            <a:off x="7565015" y="2550000"/>
            <a:ext cx="420000" cy="270000"/>
          </a:xfrm>
          <a:prstGeom prst="ellipse">
            <a:avLst/>
          </a:prstGeom>
          <a:solidFill>
            <a:srgbClr val="D97A45"/>
          </a:solidFill>
          <a:ln w="100">
            <a:solidFill>
              <a:srgbClr val="D97A4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1" name="tb121"/>
          <p:cNvSpPr txBox="1"/>
          <p:nvPr/>
        </p:nvSpPr>
        <p:spPr>
          <a:xfrm>
            <a:off x="6046012" y="2840000"/>
            <a:ext cx="2648006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0" i="0" u="none">
                <a:solidFill>
                  <a:srgbClr val="8089A8"/>
                </a:solidFill>
                <a:latin typeface="Calibri"/>
                <a:cs typeface="Calibri"/>
              </a:rPr>
              <a:t>Synthetic frame</a:t>
            </a:r>
          </a:p>
        </p:txBody>
      </p:sp>
      <p:sp>
        <p:nvSpPr>
          <p:cNvPr id="122" name="card122"/>
          <p:cNvSpPr/>
          <p:nvPr/>
        </p:nvSpPr>
        <p:spPr>
          <a:xfrm>
            <a:off x="450000" y="3240000"/>
            <a:ext cx="3800000" cy="900000"/>
          </a:xfrm>
          <a:prstGeom prst="roundRect">
            <a:avLst>
              <a:gd name="adj" fmla="val 8000"/>
            </a:avLst>
          </a:prstGeom>
          <a:solidFill>
            <a:srgbClr val="151B30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3" name="card123"/>
          <p:cNvSpPr/>
          <p:nvPr/>
        </p:nvSpPr>
        <p:spPr>
          <a:xfrm>
            <a:off x="590000" y="3380000"/>
            <a:ext cx="1760000" cy="620000"/>
          </a:xfrm>
          <a:prstGeom prst="roundRect">
            <a:avLst>
              <a:gd name="adj" fmla="val 6000"/>
            </a:avLst>
          </a:prstGeom>
          <a:solidFill>
            <a:srgbClr val="0F2A1C"/>
          </a:solidFill>
          <a:ln w="9525">
            <a:solidFill>
              <a:srgbClr val="3DBE6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4" name="tb124"/>
          <p:cNvSpPr txBox="1"/>
          <p:nvPr/>
        </p:nvSpPr>
        <p:spPr>
          <a:xfrm>
            <a:off x="670000" y="3380000"/>
            <a:ext cx="1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1" i="0" u="none">
                <a:solidFill>
                  <a:srgbClr val="3DBE6C"/>
                </a:solidFill>
                <a:latin typeface="Calibri"/>
                <a:cs typeface="Calibri"/>
              </a:rPr>
              <a:t>High confidence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00" b="0" i="0" u="none">
                <a:solidFill>
                  <a:srgbClr val="C7CCDA"/>
                </a:solidFill>
                <a:latin typeface="Calibri"/>
                <a:cs typeface="Calibri"/>
              </a:rPr>
              <a:t>stable cloud core</a:t>
            </a:r>
          </a:p>
        </p:txBody>
      </p:sp>
      <p:sp>
        <p:nvSpPr>
          <p:cNvPr id="125" name="card125"/>
          <p:cNvSpPr/>
          <p:nvPr/>
        </p:nvSpPr>
        <p:spPr>
          <a:xfrm>
            <a:off x="2370000" y="3380000"/>
            <a:ext cx="1760000" cy="620000"/>
          </a:xfrm>
          <a:prstGeom prst="roundRect">
            <a:avLst>
              <a:gd name="adj" fmla="val 6000"/>
            </a:avLst>
          </a:prstGeom>
          <a:solidFill>
            <a:srgbClr val="2A1A0F"/>
          </a:solidFill>
          <a:ln w="9525">
            <a:solidFill>
              <a:srgbClr val="FF6A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6" name="tb126"/>
          <p:cNvSpPr txBox="1"/>
          <p:nvPr/>
        </p:nvSpPr>
        <p:spPr>
          <a:xfrm>
            <a:off x="2390000" y="3380000"/>
            <a:ext cx="1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1" i="0" u="none">
                <a:solidFill>
                  <a:srgbClr val="FF6A00"/>
                </a:solidFill>
                <a:latin typeface="Calibri"/>
                <a:cs typeface="Calibri"/>
              </a:rPr>
              <a:t>Low confidence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00" b="0" i="0" u="none">
                <a:solidFill>
                  <a:srgbClr val="C7CCDA"/>
                </a:solidFill>
                <a:latin typeface="Calibri"/>
                <a:cs typeface="Calibri"/>
              </a:rPr>
              <a:t>forming edge cells</a:t>
            </a:r>
          </a:p>
        </p:txBody>
      </p:sp>
      <p:sp>
        <p:nvSpPr>
          <p:cNvPr id="127" name="card127"/>
          <p:cNvSpPr/>
          <p:nvPr/>
        </p:nvSpPr>
        <p:spPr>
          <a:xfrm>
            <a:off x="4450000" y="3240000"/>
            <a:ext cx="1341339" cy="470000"/>
          </a:xfrm>
          <a:prstGeom prst="roundRect">
            <a:avLst>
              <a:gd name="adj" fmla="val 8000"/>
            </a:avLst>
          </a:prstGeom>
          <a:solidFill>
            <a:srgbClr val="0F2A1C"/>
          </a:solidFill>
          <a:ln w="9525">
            <a:solidFill>
              <a:srgbClr val="3DBE6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8" name="tb128"/>
          <p:cNvSpPr txBox="1"/>
          <p:nvPr/>
        </p:nvSpPr>
        <p:spPr>
          <a:xfrm>
            <a:off x="4450000" y="3330000"/>
            <a:ext cx="1341339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1" i="0" u="none">
                <a:solidFill>
                  <a:srgbClr val="3DBE6C"/>
                </a:solidFill>
                <a:latin typeface="Arial"/>
                <a:cs typeface="Arial"/>
              </a:rPr>
              <a:t>SSIM</a:t>
            </a:r>
          </a:p>
        </p:txBody>
      </p:sp>
      <p:sp>
        <p:nvSpPr>
          <p:cNvPr id="129" name="tb129"/>
          <p:cNvSpPr txBox="1"/>
          <p:nvPr/>
        </p:nvSpPr>
        <p:spPr>
          <a:xfrm>
            <a:off x="4450000" y="3489307"/>
            <a:ext cx="1341339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1" i="0" u="none">
                <a:solidFill>
                  <a:srgbClr val="FFFFFF"/>
                </a:solidFill>
                <a:latin typeface="Arial"/>
                <a:cs typeface="Arial"/>
              </a:rPr>
              <a:t>0.91</a:t>
            </a:r>
          </a:p>
        </p:txBody>
      </p:sp>
      <p:sp>
        <p:nvSpPr>
          <p:cNvPr id="130" name="card130"/>
          <p:cNvSpPr/>
          <p:nvPr/>
        </p:nvSpPr>
        <p:spPr>
          <a:xfrm>
            <a:off x="5901339" y="3240000"/>
            <a:ext cx="1341339" cy="470000"/>
          </a:xfrm>
          <a:prstGeom prst="roundRect">
            <a:avLst>
              <a:gd name="adj" fmla="val 8000"/>
            </a:avLst>
          </a:prstGeom>
          <a:solidFill>
            <a:srgbClr val="121734"/>
          </a:solidFill>
          <a:ln w="9525">
            <a:solidFill>
              <a:srgbClr val="4B6F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1" name="tb131"/>
          <p:cNvSpPr txBox="1"/>
          <p:nvPr/>
        </p:nvSpPr>
        <p:spPr>
          <a:xfrm>
            <a:off x="5901339" y="3330000"/>
            <a:ext cx="1341339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1" i="0" u="none">
                <a:solidFill>
                  <a:srgbClr val="4B6FF6"/>
                </a:solidFill>
                <a:latin typeface="Arial"/>
                <a:cs typeface="Arial"/>
              </a:rPr>
              <a:t>PSNR</a:t>
            </a:r>
          </a:p>
        </p:txBody>
      </p:sp>
      <p:sp>
        <p:nvSpPr>
          <p:cNvPr id="132" name="tb132"/>
          <p:cNvSpPr txBox="1"/>
          <p:nvPr/>
        </p:nvSpPr>
        <p:spPr>
          <a:xfrm>
            <a:off x="5901339" y="3489307"/>
            <a:ext cx="1341339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1" i="0" u="none">
                <a:solidFill>
                  <a:srgbClr val="FFFFFF"/>
                </a:solidFill>
                <a:latin typeface="Arial"/>
                <a:cs typeface="Arial"/>
              </a:rPr>
              <a:t>34.2 dB</a:t>
            </a:r>
          </a:p>
        </p:txBody>
      </p:sp>
      <p:sp>
        <p:nvSpPr>
          <p:cNvPr id="133" name="card133"/>
          <p:cNvSpPr/>
          <p:nvPr/>
        </p:nvSpPr>
        <p:spPr>
          <a:xfrm>
            <a:off x="7352678" y="3240000"/>
            <a:ext cx="1341339" cy="470000"/>
          </a:xfrm>
          <a:prstGeom prst="roundRect">
            <a:avLst>
              <a:gd name="adj" fmla="val 8000"/>
            </a:avLst>
          </a:prstGeom>
          <a:solidFill>
            <a:srgbClr val="2A1A0F"/>
          </a:solidFill>
          <a:ln w="9525">
            <a:solidFill>
              <a:srgbClr val="FF6A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4" name="tb134"/>
          <p:cNvSpPr txBox="1"/>
          <p:nvPr/>
        </p:nvSpPr>
        <p:spPr>
          <a:xfrm>
            <a:off x="7352678" y="3330000"/>
            <a:ext cx="1341339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1" i="0" u="none">
                <a:solidFill>
                  <a:srgbClr val="FF6A00"/>
                </a:solidFill>
                <a:latin typeface="Arial"/>
                <a:cs typeface="Arial"/>
              </a:rPr>
              <a:t>Cloud MS</a:t>
            </a:r>
          </a:p>
        </p:txBody>
      </p:sp>
      <p:sp>
        <p:nvSpPr>
          <p:cNvPr id="135" name="tb135"/>
          <p:cNvSpPr txBox="1"/>
          <p:nvPr/>
        </p:nvSpPr>
        <p:spPr>
          <a:xfrm>
            <a:off x="7352678" y="3489307"/>
            <a:ext cx="1341339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1" i="0" u="none" dirty="0">
                <a:solidFill>
                  <a:srgbClr val="FFFFFF"/>
                </a:solidFill>
                <a:latin typeface="Arial"/>
                <a:cs typeface="Arial"/>
              </a:rPr>
              <a:t>0.87</a:t>
            </a:r>
          </a:p>
        </p:txBody>
      </p:sp>
      <p:sp>
        <p:nvSpPr>
          <p:cNvPr id="136" name="card136"/>
          <p:cNvSpPr/>
          <p:nvPr/>
        </p:nvSpPr>
        <p:spPr>
          <a:xfrm>
            <a:off x="4450000" y="3839306"/>
            <a:ext cx="4244018" cy="300693"/>
          </a:xfrm>
          <a:prstGeom prst="roundRect">
            <a:avLst>
              <a:gd name="adj" fmla="val 8000"/>
            </a:avLst>
          </a:prstGeom>
          <a:solidFill>
            <a:srgbClr val="151B30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7" name="tb137"/>
          <p:cNvSpPr txBox="1"/>
          <p:nvPr/>
        </p:nvSpPr>
        <p:spPr>
          <a:xfrm>
            <a:off x="4600000" y="3780000"/>
            <a:ext cx="22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1" i="0" u="none">
                <a:solidFill>
                  <a:srgbClr val="FFFFFF"/>
                </a:solidFill>
                <a:latin typeface="Calibri"/>
                <a:cs typeface="Calibri"/>
              </a:rPr>
              <a:t>Temporal consistency:</a:t>
            </a:r>
          </a:p>
        </p:txBody>
      </p:sp>
      <p:sp>
        <p:nvSpPr>
          <p:cNvPr id="138" name="rectout138"/>
          <p:cNvSpPr/>
          <p:nvPr/>
        </p:nvSpPr>
        <p:spPr>
          <a:xfrm>
            <a:off x="6850000" y="3910000"/>
            <a:ext cx="1694018" cy="100000"/>
          </a:xfrm>
          <a:prstGeom prst="rect">
            <a:avLst/>
          </a:prstGeom>
          <a:solidFill>
            <a:srgbClr val="0A0E1A"/>
          </a:solidFill>
          <a:ln w="12700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9" name="card139"/>
          <p:cNvSpPr/>
          <p:nvPr/>
        </p:nvSpPr>
        <p:spPr>
          <a:xfrm>
            <a:off x="6850000" y="3910000"/>
            <a:ext cx="1575436" cy="100000"/>
          </a:xfrm>
          <a:prstGeom prst="roundRect">
            <a:avLst>
              <a:gd name="adj" fmla="val 50000"/>
            </a:avLst>
          </a:prstGeom>
          <a:solidFill>
            <a:srgbClr val="3DBE6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0" name="tb140"/>
          <p:cNvSpPr txBox="1"/>
          <p:nvPr/>
        </p:nvSpPr>
        <p:spPr>
          <a:xfrm>
            <a:off x="7644018" y="3910000"/>
            <a:ext cx="900000" cy="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850" b="1" i="0" u="none">
                <a:solidFill>
                  <a:srgbClr val="FFFFFF"/>
                </a:solidFill>
                <a:latin typeface="Calibri"/>
                <a:cs typeface="Calibri"/>
              </a:rPr>
              <a:t>0.93 / 1.00</a:t>
            </a:r>
          </a:p>
        </p:txBody>
      </p:sp>
      <p:sp>
        <p:nvSpPr>
          <p:cNvPr id="141" name="card141"/>
          <p:cNvSpPr/>
          <p:nvPr/>
        </p:nvSpPr>
        <p:spPr>
          <a:xfrm>
            <a:off x="450000" y="4240000"/>
            <a:ext cx="896000" cy="360000"/>
          </a:xfrm>
          <a:prstGeom prst="roundRect">
            <a:avLst>
              <a:gd name="adj" fmla="val 40000"/>
            </a:avLst>
          </a:prstGeom>
          <a:solidFill>
            <a:srgbClr val="121734"/>
          </a:solidFill>
          <a:ln w="9525">
            <a:solidFill>
              <a:srgbClr val="4B6F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2" name="tb142"/>
          <p:cNvSpPr txBox="1"/>
          <p:nvPr/>
        </p:nvSpPr>
        <p:spPr>
          <a:xfrm>
            <a:off x="450000" y="4240000"/>
            <a:ext cx="896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1" i="0" u="none">
                <a:solidFill>
                  <a:srgbClr val="B9C2E8"/>
                </a:solidFill>
                <a:latin typeface="Calibri"/>
                <a:cs typeface="Calibri"/>
              </a:rPr>
              <a:t>00:00</a:t>
            </a:r>
          </a:p>
        </p:txBody>
      </p:sp>
      <p:sp>
        <p:nvSpPr>
          <p:cNvPr id="143" name="card143"/>
          <p:cNvSpPr/>
          <p:nvPr/>
        </p:nvSpPr>
        <p:spPr>
          <a:xfrm>
            <a:off x="1426000" y="4240000"/>
            <a:ext cx="896000" cy="360000"/>
          </a:xfrm>
          <a:prstGeom prst="roundRect">
            <a:avLst>
              <a:gd name="adj" fmla="val 40000"/>
            </a:avLst>
          </a:prstGeom>
          <a:solidFill>
            <a:srgbClr val="2A1A0F"/>
          </a:solidFill>
          <a:ln w="9525">
            <a:solidFill>
              <a:srgbClr val="FF6A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4" name="tb144"/>
          <p:cNvSpPr txBox="1"/>
          <p:nvPr/>
        </p:nvSpPr>
        <p:spPr>
          <a:xfrm>
            <a:off x="1426000" y="4240000"/>
            <a:ext cx="896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1" i="0" u="none">
                <a:solidFill>
                  <a:srgbClr val="FF6A00"/>
                </a:solidFill>
                <a:latin typeface="Calibri"/>
                <a:cs typeface="Calibri"/>
              </a:rPr>
              <a:t>00:15 ★</a:t>
            </a:r>
          </a:p>
        </p:txBody>
      </p:sp>
      <p:sp>
        <p:nvSpPr>
          <p:cNvPr id="145" name="card145"/>
          <p:cNvSpPr/>
          <p:nvPr/>
        </p:nvSpPr>
        <p:spPr>
          <a:xfrm>
            <a:off x="2402000" y="4240000"/>
            <a:ext cx="896000" cy="360000"/>
          </a:xfrm>
          <a:prstGeom prst="roundRect">
            <a:avLst>
              <a:gd name="adj" fmla="val 40000"/>
            </a:avLst>
          </a:prstGeom>
          <a:solidFill>
            <a:srgbClr val="121734"/>
          </a:solidFill>
          <a:ln w="9525">
            <a:solidFill>
              <a:srgbClr val="4B6F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6" name="tb146"/>
          <p:cNvSpPr txBox="1"/>
          <p:nvPr/>
        </p:nvSpPr>
        <p:spPr>
          <a:xfrm>
            <a:off x="2402000" y="4240000"/>
            <a:ext cx="896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1" i="0" u="none">
                <a:solidFill>
                  <a:srgbClr val="B9C2E8"/>
                </a:solidFill>
                <a:latin typeface="Calibri"/>
                <a:cs typeface="Calibri"/>
              </a:rPr>
              <a:t>00:30</a:t>
            </a:r>
          </a:p>
        </p:txBody>
      </p:sp>
      <p:sp>
        <p:nvSpPr>
          <p:cNvPr id="147" name="card147"/>
          <p:cNvSpPr/>
          <p:nvPr/>
        </p:nvSpPr>
        <p:spPr>
          <a:xfrm>
            <a:off x="3378000" y="4240000"/>
            <a:ext cx="896000" cy="360000"/>
          </a:xfrm>
          <a:prstGeom prst="roundRect">
            <a:avLst>
              <a:gd name="adj" fmla="val 40000"/>
            </a:avLst>
          </a:prstGeom>
          <a:solidFill>
            <a:srgbClr val="2A1A0F"/>
          </a:solidFill>
          <a:ln w="9525">
            <a:solidFill>
              <a:srgbClr val="FF6A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8" name="tb148"/>
          <p:cNvSpPr txBox="1"/>
          <p:nvPr/>
        </p:nvSpPr>
        <p:spPr>
          <a:xfrm>
            <a:off x="3378000" y="4240000"/>
            <a:ext cx="896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1" i="0" u="none">
                <a:solidFill>
                  <a:srgbClr val="FF6A00"/>
                </a:solidFill>
                <a:latin typeface="Calibri"/>
                <a:cs typeface="Calibri"/>
              </a:rPr>
              <a:t>00:45 ★</a:t>
            </a:r>
          </a:p>
        </p:txBody>
      </p:sp>
      <p:sp>
        <p:nvSpPr>
          <p:cNvPr id="149" name="card149"/>
          <p:cNvSpPr/>
          <p:nvPr/>
        </p:nvSpPr>
        <p:spPr>
          <a:xfrm>
            <a:off x="4354000" y="4240000"/>
            <a:ext cx="896000" cy="360000"/>
          </a:xfrm>
          <a:prstGeom prst="roundRect">
            <a:avLst>
              <a:gd name="adj" fmla="val 40000"/>
            </a:avLst>
          </a:prstGeom>
          <a:solidFill>
            <a:srgbClr val="121734"/>
          </a:solidFill>
          <a:ln w="9525">
            <a:solidFill>
              <a:srgbClr val="4B6F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0" name="tb150"/>
          <p:cNvSpPr txBox="1"/>
          <p:nvPr/>
        </p:nvSpPr>
        <p:spPr>
          <a:xfrm>
            <a:off x="4354000" y="4240000"/>
            <a:ext cx="896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1" i="0" u="none">
                <a:solidFill>
                  <a:srgbClr val="B9C2E8"/>
                </a:solidFill>
                <a:latin typeface="Calibri"/>
                <a:cs typeface="Calibri"/>
              </a:rPr>
              <a:t>01:00</a:t>
            </a:r>
          </a:p>
        </p:txBody>
      </p:sp>
      <p:sp>
        <p:nvSpPr>
          <p:cNvPr id="151" name="tb151"/>
          <p:cNvSpPr txBox="1"/>
          <p:nvPr/>
        </p:nvSpPr>
        <p:spPr>
          <a:xfrm>
            <a:off x="5550000" y="4240000"/>
            <a:ext cx="3144018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00" b="1" i="0" u="none">
                <a:solidFill>
                  <a:srgbClr val="C7CCDA"/>
                </a:solidFill>
                <a:latin typeface="Calibri"/>
                <a:cs typeface="Calibri"/>
              </a:rPr>
              <a:t>★ = AI-synthesized frame</a:t>
            </a:r>
          </a:p>
        </p:txBody>
      </p:sp>
      <p:sp>
        <p:nvSpPr>
          <p:cNvPr id="152" name="tb152"/>
          <p:cNvSpPr txBox="1"/>
          <p:nvPr/>
        </p:nvSpPr>
        <p:spPr>
          <a:xfrm>
            <a:off x="450000" y="4700000"/>
            <a:ext cx="8244018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 b="0" i="1" u="none" dirty="0">
                <a:solidFill>
                  <a:srgbClr val="FF6A00"/>
                </a:solidFill>
                <a:latin typeface="Calibri"/>
                <a:cs typeface="Calibri"/>
              </a:rPr>
              <a:t>“Every synthetic frame ships with a confidence map , so forecasters know exactly what to trust.”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g134"/>
          <p:cNvSpPr/>
          <p:nvPr/>
        </p:nvSpPr>
        <p:spPr>
          <a:xfrm>
            <a:off x="0" y="0"/>
            <a:ext cx="9144018" cy="5143501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" name="bgpic" title="b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tb101"/>
          <p:cNvSpPr txBox="1"/>
          <p:nvPr/>
        </p:nvSpPr>
        <p:spPr>
          <a:xfrm>
            <a:off x="450000" y="600000"/>
            <a:ext cx="8244018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400" b="1" i="0" u="none" dirty="0">
                <a:solidFill>
                  <a:srgbClr val="FFFFFF"/>
                </a:solidFill>
                <a:latin typeface="Arial"/>
                <a:cs typeface="Arial"/>
              </a:rPr>
              <a:t>How the System Is Built (</a:t>
            </a:r>
            <a:r>
              <a:rPr lang="en-US" sz="2400" b="1" i="0" u="none">
                <a:solidFill>
                  <a:srgbClr val="FFFFFF"/>
                </a:solidFill>
                <a:latin typeface="Arial"/>
                <a:cs typeface="Arial"/>
              </a:rPr>
              <a:t>Architecture Diagram)</a:t>
            </a:r>
            <a:endParaRPr lang="en-US" sz="2400" b="1" i="0" u="none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02" name="tb102"/>
          <p:cNvSpPr txBox="1"/>
          <p:nvPr/>
        </p:nvSpPr>
        <p:spPr>
          <a:xfrm>
            <a:off x="450000" y="1080000"/>
            <a:ext cx="8244018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0" i="1" u="none" dirty="0">
                <a:solidFill>
                  <a:srgbClr val="C7CCDA"/>
                </a:solidFill>
                <a:latin typeface="Calibri"/>
                <a:cs typeface="Calibri"/>
              </a:rPr>
              <a:t>Four layers  :</a:t>
            </a:r>
            <a:r>
              <a:rPr lang="en-US" sz="1300" i="1" dirty="0">
                <a:solidFill>
                  <a:srgbClr val="C7CCDA"/>
                </a:solidFill>
                <a:latin typeface="Calibri"/>
                <a:cs typeface="Calibri"/>
              </a:rPr>
              <a:t> D</a:t>
            </a:r>
            <a:r>
              <a:rPr lang="en-US" sz="1300" b="0" i="1" u="none" dirty="0">
                <a:solidFill>
                  <a:srgbClr val="C7CCDA"/>
                </a:solidFill>
                <a:latin typeface="Calibri"/>
                <a:cs typeface="Calibri"/>
              </a:rPr>
              <a:t>ata, preprocessing, AI core, output.</a:t>
            </a:r>
          </a:p>
        </p:txBody>
      </p:sp>
      <p:sp>
        <p:nvSpPr>
          <p:cNvPr id="103" name="card103"/>
          <p:cNvSpPr/>
          <p:nvPr/>
        </p:nvSpPr>
        <p:spPr>
          <a:xfrm>
            <a:off x="450000" y="1430000"/>
            <a:ext cx="2614672" cy="380000"/>
          </a:xfrm>
          <a:prstGeom prst="roundRect">
            <a:avLst>
              <a:gd name="adj" fmla="val 7000"/>
            </a:avLst>
          </a:prstGeom>
          <a:solidFill>
            <a:srgbClr val="151B30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" name="tb104"/>
          <p:cNvSpPr txBox="1"/>
          <p:nvPr/>
        </p:nvSpPr>
        <p:spPr>
          <a:xfrm>
            <a:off x="450000" y="1430000"/>
            <a:ext cx="2614672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 b="1" i="0" u="none" dirty="0">
                <a:solidFill>
                  <a:srgbClr val="FFFFFF"/>
                </a:solidFill>
                <a:latin typeface="Arial"/>
                <a:cs typeface="Arial"/>
              </a:rPr>
              <a:t>GOES-19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00" b="0" i="0" u="none" dirty="0">
                <a:solidFill>
                  <a:srgbClr val="C7CCDA"/>
                </a:solidFill>
                <a:latin typeface="Calibri"/>
                <a:cs typeface="Calibri"/>
              </a:rPr>
              <a:t>AWS S3 · 10 min</a:t>
            </a:r>
          </a:p>
        </p:txBody>
      </p:sp>
      <p:sp>
        <p:nvSpPr>
          <p:cNvPr id="105" name="card105"/>
          <p:cNvSpPr/>
          <p:nvPr/>
        </p:nvSpPr>
        <p:spPr>
          <a:xfrm>
            <a:off x="3264672" y="1430000"/>
            <a:ext cx="2614672" cy="380000"/>
          </a:xfrm>
          <a:prstGeom prst="roundRect">
            <a:avLst>
              <a:gd name="adj" fmla="val 7000"/>
            </a:avLst>
          </a:prstGeom>
          <a:solidFill>
            <a:srgbClr val="151B30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6" name="tb106"/>
          <p:cNvSpPr txBox="1"/>
          <p:nvPr/>
        </p:nvSpPr>
        <p:spPr>
          <a:xfrm>
            <a:off x="3264672" y="1430000"/>
            <a:ext cx="2614672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 b="1" i="0" u="none">
                <a:solidFill>
                  <a:srgbClr val="FFFFFF"/>
                </a:solidFill>
                <a:latin typeface="Arial"/>
                <a:cs typeface="Arial"/>
              </a:rPr>
              <a:t>INSAT-3DS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00" b="0" i="0" u="none">
                <a:solidFill>
                  <a:srgbClr val="C7CCDA"/>
                </a:solidFill>
                <a:latin typeface="Calibri"/>
                <a:cs typeface="Calibri"/>
              </a:rPr>
              <a:t>MOSDAC · 30 min</a:t>
            </a:r>
          </a:p>
        </p:txBody>
      </p:sp>
      <p:sp>
        <p:nvSpPr>
          <p:cNvPr id="107" name="card107"/>
          <p:cNvSpPr/>
          <p:nvPr/>
        </p:nvSpPr>
        <p:spPr>
          <a:xfrm>
            <a:off x="6079344" y="1430000"/>
            <a:ext cx="2614672" cy="380000"/>
          </a:xfrm>
          <a:prstGeom prst="roundRect">
            <a:avLst>
              <a:gd name="adj" fmla="val 7000"/>
            </a:avLst>
          </a:prstGeom>
          <a:solidFill>
            <a:srgbClr val="151B30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8" name="tb108"/>
          <p:cNvSpPr txBox="1"/>
          <p:nvPr/>
        </p:nvSpPr>
        <p:spPr>
          <a:xfrm>
            <a:off x="6079344" y="1430000"/>
            <a:ext cx="2614672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 b="1" i="0" u="none">
                <a:solidFill>
                  <a:srgbClr val="FFFFFF"/>
                </a:solidFill>
                <a:latin typeface="Arial"/>
                <a:cs typeface="Arial"/>
              </a:rPr>
              <a:t>Himawari-8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00" b="0" i="0" u="none">
                <a:solidFill>
                  <a:srgbClr val="C7CCDA"/>
                </a:solidFill>
                <a:latin typeface="Calibri"/>
                <a:cs typeface="Calibri"/>
              </a:rPr>
              <a:t>JMA AWS · 10 min</a:t>
            </a:r>
          </a:p>
        </p:txBody>
      </p:sp>
      <p:cxnSp>
        <p:nvCxnSpPr>
          <p:cNvPr id="109" name="conn109"/>
          <p:cNvCxnSpPr/>
          <p:nvPr/>
        </p:nvCxnSpPr>
        <p:spPr>
          <a:xfrm>
            <a:off x="1757336" y="1810000"/>
            <a:ext cx="2814673" cy="200000"/>
          </a:xfrm>
          <a:prstGeom prst="line">
            <a:avLst/>
          </a:prstGeom>
          <a:ln w="12700">
            <a:solidFill>
              <a:srgbClr val="8089A8"/>
            </a:solidFill>
          </a:ln>
        </p:spPr>
      </p:cxnSp>
      <p:cxnSp>
        <p:nvCxnSpPr>
          <p:cNvPr id="110" name="conn110"/>
          <p:cNvCxnSpPr/>
          <p:nvPr/>
        </p:nvCxnSpPr>
        <p:spPr>
          <a:xfrm>
            <a:off x="4572008" y="1810000"/>
            <a:ext cx="1" cy="200000"/>
          </a:xfrm>
          <a:prstGeom prst="line">
            <a:avLst/>
          </a:prstGeom>
          <a:ln w="12700">
            <a:solidFill>
              <a:srgbClr val="8089A8"/>
            </a:solidFill>
          </a:ln>
        </p:spPr>
      </p:cxnSp>
      <p:cxnSp>
        <p:nvCxnSpPr>
          <p:cNvPr id="111" name="conn111"/>
          <p:cNvCxnSpPr/>
          <p:nvPr/>
        </p:nvCxnSpPr>
        <p:spPr>
          <a:xfrm flipH="1">
            <a:off x="4572009" y="1810000"/>
            <a:ext cx="2814671" cy="200000"/>
          </a:xfrm>
          <a:prstGeom prst="line">
            <a:avLst/>
          </a:prstGeom>
          <a:ln w="12700">
            <a:solidFill>
              <a:srgbClr val="8089A8"/>
            </a:solidFill>
          </a:ln>
        </p:spPr>
      </p:cxnSp>
      <p:sp>
        <p:nvSpPr>
          <p:cNvPr id="112" name="darrow112"/>
          <p:cNvSpPr/>
          <p:nvPr/>
        </p:nvSpPr>
        <p:spPr>
          <a:xfrm>
            <a:off x="4482009" y="2010000"/>
            <a:ext cx="180000" cy="130000"/>
          </a:xfrm>
          <a:prstGeom prst="downArrow">
            <a:avLst/>
          </a:prstGeom>
          <a:solidFill>
            <a:srgbClr val="8089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card113"/>
          <p:cNvSpPr/>
          <p:nvPr/>
        </p:nvSpPr>
        <p:spPr>
          <a:xfrm>
            <a:off x="1672009" y="2190000"/>
            <a:ext cx="5800000" cy="420000"/>
          </a:xfrm>
          <a:prstGeom prst="roundRect">
            <a:avLst>
              <a:gd name="adj" fmla="val 8000"/>
            </a:avLst>
          </a:prstGeom>
          <a:solidFill>
            <a:srgbClr val="151B30"/>
          </a:solidFill>
          <a:ln w="9525">
            <a:solidFill>
              <a:srgbClr val="4B6F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4" name="tb114"/>
          <p:cNvSpPr txBox="1"/>
          <p:nvPr/>
        </p:nvSpPr>
        <p:spPr>
          <a:xfrm>
            <a:off x="1872009" y="2190000"/>
            <a:ext cx="54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50" b="1" i="0" u="none">
                <a:solidFill>
                  <a:srgbClr val="FFFFFF"/>
                </a:solidFill>
                <a:latin typeface="Arial"/>
                <a:cs typeface="Arial"/>
              </a:rPr>
              <a:t>Preprocessing Engine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0" i="0" u="none">
                <a:solidFill>
                  <a:srgbClr val="C7CCDA"/>
                </a:solidFill>
                <a:latin typeface="Calibri"/>
                <a:cs typeface="Calibri"/>
              </a:rPr>
              <a:t>NetCDF parser · Kelvin normalizer · Frame aligner · Pair sampler</a:t>
            </a:r>
          </a:p>
        </p:txBody>
      </p:sp>
      <p:sp>
        <p:nvSpPr>
          <p:cNvPr id="115" name="darrow115"/>
          <p:cNvSpPr/>
          <p:nvPr/>
        </p:nvSpPr>
        <p:spPr>
          <a:xfrm>
            <a:off x="4482009" y="2640000"/>
            <a:ext cx="180000" cy="110000"/>
          </a:xfrm>
          <a:prstGeom prst="downArrow">
            <a:avLst/>
          </a:prstGeom>
          <a:solidFill>
            <a:srgbClr val="8089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rectout116"/>
          <p:cNvSpPr/>
          <p:nvPr/>
        </p:nvSpPr>
        <p:spPr>
          <a:xfrm>
            <a:off x="972009" y="2760000"/>
            <a:ext cx="7200000" cy="1260000"/>
          </a:xfrm>
          <a:prstGeom prst="rect">
            <a:avLst/>
          </a:prstGeom>
          <a:noFill/>
          <a:ln w="15000">
            <a:solidFill>
              <a:srgbClr val="8089A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17" name="tb117"/>
          <p:cNvSpPr txBox="1"/>
          <p:nvPr/>
        </p:nvSpPr>
        <p:spPr>
          <a:xfrm>
            <a:off x="1122009" y="2790000"/>
            <a:ext cx="16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00" b="1" i="0" u="none">
                <a:solidFill>
                  <a:srgbClr val="8089A8"/>
                </a:solidFill>
                <a:latin typeface="Arial"/>
                <a:cs typeface="Arial"/>
              </a:rPr>
              <a:t>AI CORE</a:t>
            </a:r>
          </a:p>
        </p:txBody>
      </p:sp>
      <p:sp>
        <p:nvSpPr>
          <p:cNvPr id="118" name="card118"/>
          <p:cNvSpPr/>
          <p:nvPr/>
        </p:nvSpPr>
        <p:spPr>
          <a:xfrm>
            <a:off x="1172009" y="2960000"/>
            <a:ext cx="3250000" cy="420000"/>
          </a:xfrm>
          <a:prstGeom prst="roundRect">
            <a:avLst>
              <a:gd name="adj" fmla="val 8000"/>
            </a:avLst>
          </a:prstGeom>
          <a:solidFill>
            <a:srgbClr val="121734"/>
          </a:solidFill>
          <a:ln w="9525">
            <a:solidFill>
              <a:srgbClr val="4B6F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9" name="tb119"/>
          <p:cNvSpPr txBox="1"/>
          <p:nvPr/>
        </p:nvSpPr>
        <p:spPr>
          <a:xfrm>
            <a:off x="1322009" y="2960000"/>
            <a:ext cx="295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00" b="1" i="0" u="none" dirty="0">
                <a:solidFill>
                  <a:srgbClr val="FFFFFF"/>
                </a:solidFill>
                <a:latin typeface="Arial"/>
                <a:cs typeface="Arial"/>
              </a:rPr>
              <a:t>RAFT Flow Estimator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800" dirty="0">
                <a:solidFill>
                  <a:schemeClr val="bg1">
                    <a:lumMod val="85000"/>
                  </a:schemeClr>
                </a:solidFill>
              </a:rPr>
              <a:t>Multi-resolution motion estimation for capturing both large-scale atmospheric movement and local cloud evolution</a:t>
            </a:r>
            <a:r>
              <a:rPr lang="en-IN" sz="900" dirty="0"/>
              <a:t>.</a:t>
            </a:r>
            <a:endParaRPr lang="en-US" sz="900" b="0" i="0" u="none" dirty="0">
              <a:solidFill>
                <a:srgbClr val="C7CCDA"/>
              </a:solidFill>
              <a:latin typeface="Calibri"/>
              <a:cs typeface="Calibri"/>
            </a:endParaRPr>
          </a:p>
        </p:txBody>
      </p:sp>
      <p:sp>
        <p:nvSpPr>
          <p:cNvPr id="120" name="card120"/>
          <p:cNvSpPr/>
          <p:nvPr/>
        </p:nvSpPr>
        <p:spPr>
          <a:xfrm>
            <a:off x="4722009" y="2960000"/>
            <a:ext cx="3250000" cy="420000"/>
          </a:xfrm>
          <a:prstGeom prst="roundRect">
            <a:avLst>
              <a:gd name="adj" fmla="val 8000"/>
            </a:avLst>
          </a:prstGeom>
          <a:solidFill>
            <a:srgbClr val="2A1A0F"/>
          </a:solidFill>
          <a:ln w="9525">
            <a:solidFill>
              <a:srgbClr val="FF6A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1" name="tb121"/>
          <p:cNvSpPr txBox="1"/>
          <p:nvPr/>
        </p:nvSpPr>
        <p:spPr>
          <a:xfrm>
            <a:off x="4872009" y="2960000"/>
            <a:ext cx="295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 b="1" i="0" u="none">
                <a:solidFill>
                  <a:srgbClr val="FFFFFF"/>
                </a:solidFill>
                <a:latin typeface="Arial"/>
                <a:cs typeface="Arial"/>
              </a:rPr>
              <a:t>Modified RIFE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00" b="0" i="0" u="none">
                <a:solidFill>
                  <a:srgbClr val="C7CCDA"/>
                </a:solidFill>
                <a:latin typeface="Calibri"/>
                <a:cs typeface="Calibri"/>
              </a:rPr>
              <a:t>Frame synthesizer + confidence head</a:t>
            </a:r>
          </a:p>
        </p:txBody>
      </p:sp>
      <p:sp>
        <p:nvSpPr>
          <p:cNvPr id="122" name="arrow122"/>
          <p:cNvSpPr/>
          <p:nvPr/>
        </p:nvSpPr>
        <p:spPr>
          <a:xfrm>
            <a:off x="4462009" y="3100000"/>
            <a:ext cx="220000" cy="140000"/>
          </a:xfrm>
          <a:prstGeom prst="rightArrow">
            <a:avLst/>
          </a:prstGeom>
          <a:solidFill>
            <a:srgbClr val="8089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darrow123"/>
          <p:cNvSpPr/>
          <p:nvPr/>
        </p:nvSpPr>
        <p:spPr>
          <a:xfrm>
            <a:off x="6267009" y="3390000"/>
            <a:ext cx="160000" cy="90000"/>
          </a:xfrm>
          <a:prstGeom prst="downArrow">
            <a:avLst/>
          </a:prstGeom>
          <a:solidFill>
            <a:srgbClr val="8089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4" name="card124"/>
          <p:cNvSpPr/>
          <p:nvPr/>
        </p:nvSpPr>
        <p:spPr>
          <a:xfrm>
            <a:off x="1172009" y="3480000"/>
            <a:ext cx="6800000" cy="460000"/>
          </a:xfrm>
          <a:prstGeom prst="roundRect">
            <a:avLst>
              <a:gd name="adj" fmla="val 8000"/>
            </a:avLst>
          </a:prstGeom>
          <a:solidFill>
            <a:srgbClr val="121734"/>
          </a:solidFill>
          <a:ln w="9525">
            <a:solidFill>
              <a:srgbClr val="4B6F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5" name="tb125"/>
          <p:cNvSpPr txBox="1"/>
          <p:nvPr/>
        </p:nvSpPr>
        <p:spPr>
          <a:xfrm>
            <a:off x="1372009" y="3480000"/>
            <a:ext cx="640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 b="1" i="0" u="none" dirty="0">
                <a:solidFill>
                  <a:srgbClr val="FFFFFF"/>
                </a:solidFill>
                <a:latin typeface="Arial"/>
                <a:cs typeface="Arial"/>
              </a:rPr>
              <a:t>Transfer Learning Controller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0" i="0" u="none" dirty="0">
                <a:solidFill>
                  <a:srgbClr val="C7CCDA"/>
                </a:solidFill>
                <a:latin typeface="Calibri"/>
                <a:cs typeface="Calibri"/>
              </a:rPr>
              <a:t>Pretrain weights (GOES/Himawari) → fine-tune pass (INSAT-3DS)</a:t>
            </a:r>
          </a:p>
        </p:txBody>
      </p:sp>
      <p:sp>
        <p:nvSpPr>
          <p:cNvPr id="126" name="darrow126"/>
          <p:cNvSpPr/>
          <p:nvPr/>
        </p:nvSpPr>
        <p:spPr>
          <a:xfrm>
            <a:off x="2717009" y="4050000"/>
            <a:ext cx="160000" cy="100000"/>
          </a:xfrm>
          <a:prstGeom prst="downArrow">
            <a:avLst/>
          </a:prstGeom>
          <a:solidFill>
            <a:srgbClr val="8089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7" name="darrow127"/>
          <p:cNvSpPr/>
          <p:nvPr/>
        </p:nvSpPr>
        <p:spPr>
          <a:xfrm>
            <a:off x="6267009" y="4050000"/>
            <a:ext cx="160000" cy="100000"/>
          </a:xfrm>
          <a:prstGeom prst="downArrow">
            <a:avLst/>
          </a:prstGeom>
          <a:solidFill>
            <a:srgbClr val="8089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8" name="card128"/>
          <p:cNvSpPr/>
          <p:nvPr/>
        </p:nvSpPr>
        <p:spPr>
          <a:xfrm>
            <a:off x="1172009" y="4240000"/>
            <a:ext cx="3250000" cy="420000"/>
          </a:xfrm>
          <a:prstGeom prst="roundRect">
            <a:avLst>
              <a:gd name="adj" fmla="val 8000"/>
            </a:avLst>
          </a:prstGeom>
          <a:solidFill>
            <a:srgbClr val="151B30"/>
          </a:solidFill>
          <a:ln w="9525">
            <a:solidFill>
              <a:srgbClr val="4B6F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9" name="tb129"/>
          <p:cNvSpPr txBox="1"/>
          <p:nvPr/>
        </p:nvSpPr>
        <p:spPr>
          <a:xfrm>
            <a:off x="1322009" y="4240000"/>
            <a:ext cx="295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 b="1" i="0" u="none">
                <a:solidFill>
                  <a:srgbClr val="FFFFFF"/>
                </a:solidFill>
                <a:latin typeface="Arial"/>
                <a:cs typeface="Arial"/>
              </a:rPr>
              <a:t>Web Dashboard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0" i="0" u="none">
                <a:solidFill>
                  <a:srgbClr val="C7CCDA"/>
                </a:solidFill>
                <a:latin typeface="Calibri"/>
                <a:cs typeface="Calibri"/>
              </a:rPr>
              <a:t>Timelapse · metrics · heatmap</a:t>
            </a:r>
          </a:p>
        </p:txBody>
      </p:sp>
      <p:sp>
        <p:nvSpPr>
          <p:cNvPr id="130" name="card130"/>
          <p:cNvSpPr/>
          <p:nvPr/>
        </p:nvSpPr>
        <p:spPr>
          <a:xfrm>
            <a:off x="4722009" y="4240000"/>
            <a:ext cx="3250000" cy="420000"/>
          </a:xfrm>
          <a:prstGeom prst="roundRect">
            <a:avLst>
              <a:gd name="adj" fmla="val 8000"/>
            </a:avLst>
          </a:prstGeom>
          <a:solidFill>
            <a:srgbClr val="151B30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1" name="tb131"/>
          <p:cNvSpPr txBox="1"/>
          <p:nvPr/>
        </p:nvSpPr>
        <p:spPr>
          <a:xfrm>
            <a:off x="4872009" y="4240000"/>
            <a:ext cx="295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 b="1" i="0" u="none">
                <a:solidFill>
                  <a:srgbClr val="FFFFFF"/>
                </a:solidFill>
                <a:latin typeface="Arial"/>
                <a:cs typeface="Arial"/>
              </a:rPr>
              <a:t>Output .nc Store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0" i="0" u="none">
                <a:solidFill>
                  <a:srgbClr val="C7CCDA"/>
                </a:solidFill>
                <a:latin typeface="Calibri"/>
                <a:cs typeface="Calibri"/>
              </a:rPr>
              <a:t>Synthetic frames + metadata</a:t>
            </a:r>
          </a:p>
        </p:txBody>
      </p:sp>
      <p:cxnSp>
        <p:nvCxnSpPr>
          <p:cNvPr id="132" name="conn132"/>
          <p:cNvCxnSpPr/>
          <p:nvPr/>
        </p:nvCxnSpPr>
        <p:spPr>
          <a:xfrm flipH="1">
            <a:off x="4422009" y="4450000"/>
            <a:ext cx="300000" cy="1"/>
          </a:xfrm>
          <a:prstGeom prst="line">
            <a:avLst/>
          </a:prstGeom>
          <a:ln w="10000">
            <a:solidFill>
              <a:srgbClr val="8089A8"/>
            </a:solidFill>
            <a:prstDash val="dash"/>
            <a:tailEnd type="triangle" w="med" len="med"/>
          </a:ln>
        </p:spPr>
      </p:cxnSp>
      <p:sp>
        <p:nvSpPr>
          <p:cNvPr id="133" name="tb133"/>
          <p:cNvSpPr txBox="1"/>
          <p:nvPr/>
        </p:nvSpPr>
        <p:spPr>
          <a:xfrm>
            <a:off x="450000" y="4790000"/>
            <a:ext cx="8244018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US" sz="1050" b="0" i="1" u="none" dirty="0">
              <a:solidFill>
                <a:srgbClr val="FF6A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bg155"/>
          <p:cNvSpPr/>
          <p:nvPr/>
        </p:nvSpPr>
        <p:spPr>
          <a:xfrm>
            <a:off x="0" y="0"/>
            <a:ext cx="9144018" cy="5143501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" name="bgpic" title="b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tb101"/>
          <p:cNvSpPr txBox="1"/>
          <p:nvPr/>
        </p:nvSpPr>
        <p:spPr>
          <a:xfrm>
            <a:off x="450000" y="600000"/>
            <a:ext cx="8244018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900" b="1" i="0" u="none">
                <a:solidFill>
                  <a:srgbClr val="FFFFFF"/>
                </a:solidFill>
                <a:latin typeface="Arial"/>
                <a:cs typeface="Arial"/>
              </a:rPr>
              <a:t>Technologies Powering the Solution</a:t>
            </a:r>
          </a:p>
        </p:txBody>
      </p:sp>
      <p:sp>
        <p:nvSpPr>
          <p:cNvPr id="102" name="tb102"/>
          <p:cNvSpPr txBox="1"/>
          <p:nvPr/>
        </p:nvSpPr>
        <p:spPr>
          <a:xfrm>
            <a:off x="450000" y="1080000"/>
            <a:ext cx="8244018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0" i="1" u="none">
                <a:solidFill>
                  <a:srgbClr val="C7CCDA"/>
                </a:solidFill>
                <a:latin typeface="Calibri"/>
                <a:cs typeface="Calibri"/>
              </a:rPr>
              <a:t>Purpose-built stack — every tool chosen for a reason.</a:t>
            </a:r>
          </a:p>
        </p:txBody>
      </p:sp>
      <p:sp>
        <p:nvSpPr>
          <p:cNvPr id="103" name="card103"/>
          <p:cNvSpPr/>
          <p:nvPr/>
        </p:nvSpPr>
        <p:spPr>
          <a:xfrm>
            <a:off x="450000" y="1460000"/>
            <a:ext cx="8244018" cy="580000"/>
          </a:xfrm>
          <a:prstGeom prst="roundRect">
            <a:avLst>
              <a:gd name="adj" fmla="val 9000"/>
            </a:avLst>
          </a:prstGeom>
          <a:solidFill>
            <a:srgbClr val="151B30"/>
          </a:solidFill>
          <a:ln w="9525">
            <a:solidFill>
              <a:srgbClr val="8089A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" name="tb104"/>
          <p:cNvSpPr txBox="1"/>
          <p:nvPr/>
        </p:nvSpPr>
        <p:spPr>
          <a:xfrm>
            <a:off x="670000" y="1550000"/>
            <a:ext cx="15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 b="1" i="0" u="none">
                <a:solidFill>
                  <a:srgbClr val="8089A8"/>
                </a:solidFill>
                <a:latin typeface="Arial"/>
                <a:cs typeface="Arial"/>
              </a:rPr>
              <a:t>DATA LAYER</a:t>
            </a:r>
          </a:p>
        </p:txBody>
      </p:sp>
      <p:sp>
        <p:nvSpPr>
          <p:cNvPr id="105" name="card105"/>
          <p:cNvSpPr/>
          <p:nvPr/>
        </p:nvSpPr>
        <p:spPr>
          <a:xfrm>
            <a:off x="2100000" y="1550000"/>
            <a:ext cx="1518504" cy="280000"/>
          </a:xfrm>
          <a:prstGeom prst="roundRect">
            <a:avLst>
              <a:gd name="adj" fmla="val 30000"/>
            </a:avLst>
          </a:prstGeom>
          <a:solidFill>
            <a:srgbClr val="0A0E1A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6" name="tb106"/>
          <p:cNvSpPr txBox="1"/>
          <p:nvPr/>
        </p:nvSpPr>
        <p:spPr>
          <a:xfrm>
            <a:off x="2100000" y="1550000"/>
            <a:ext cx="1518504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1" i="0" u="none">
                <a:solidFill>
                  <a:srgbClr val="FFFFFF"/>
                </a:solidFill>
                <a:latin typeface="Calibri"/>
                <a:cs typeface="Calibri"/>
              </a:rPr>
              <a:t>netCDF4</a:t>
            </a:r>
          </a:p>
        </p:txBody>
      </p:sp>
      <p:sp>
        <p:nvSpPr>
          <p:cNvPr id="107" name="card107"/>
          <p:cNvSpPr/>
          <p:nvPr/>
        </p:nvSpPr>
        <p:spPr>
          <a:xfrm>
            <a:off x="3708504" y="1550000"/>
            <a:ext cx="1518504" cy="280000"/>
          </a:xfrm>
          <a:prstGeom prst="roundRect">
            <a:avLst>
              <a:gd name="adj" fmla="val 30000"/>
            </a:avLst>
          </a:prstGeom>
          <a:solidFill>
            <a:srgbClr val="0A0E1A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8" name="tb108"/>
          <p:cNvSpPr txBox="1"/>
          <p:nvPr/>
        </p:nvSpPr>
        <p:spPr>
          <a:xfrm>
            <a:off x="3708504" y="1550000"/>
            <a:ext cx="1518504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1" i="0" u="none">
                <a:solidFill>
                  <a:srgbClr val="FFFFFF"/>
                </a:solidFill>
                <a:latin typeface="Calibri"/>
                <a:cs typeface="Calibri"/>
              </a:rPr>
              <a:t>xarray</a:t>
            </a:r>
          </a:p>
        </p:txBody>
      </p:sp>
      <p:sp>
        <p:nvSpPr>
          <p:cNvPr id="109" name="card109"/>
          <p:cNvSpPr/>
          <p:nvPr/>
        </p:nvSpPr>
        <p:spPr>
          <a:xfrm>
            <a:off x="5317008" y="1550000"/>
            <a:ext cx="1518504" cy="280000"/>
          </a:xfrm>
          <a:prstGeom prst="roundRect">
            <a:avLst>
              <a:gd name="adj" fmla="val 30000"/>
            </a:avLst>
          </a:prstGeom>
          <a:solidFill>
            <a:srgbClr val="0A0E1A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0" name="tb110"/>
          <p:cNvSpPr txBox="1"/>
          <p:nvPr/>
        </p:nvSpPr>
        <p:spPr>
          <a:xfrm>
            <a:off x="5317008" y="1550000"/>
            <a:ext cx="1518504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1" i="0" u="none">
                <a:solidFill>
                  <a:srgbClr val="FFFFFF"/>
                </a:solidFill>
                <a:latin typeface="Calibri"/>
                <a:cs typeface="Calibri"/>
              </a:rPr>
              <a:t>NumPy</a:t>
            </a:r>
          </a:p>
        </p:txBody>
      </p:sp>
      <p:sp>
        <p:nvSpPr>
          <p:cNvPr id="111" name="card111"/>
          <p:cNvSpPr/>
          <p:nvPr/>
        </p:nvSpPr>
        <p:spPr>
          <a:xfrm>
            <a:off x="6925512" y="1550000"/>
            <a:ext cx="1518504" cy="280000"/>
          </a:xfrm>
          <a:prstGeom prst="roundRect">
            <a:avLst>
              <a:gd name="adj" fmla="val 30000"/>
            </a:avLst>
          </a:prstGeom>
          <a:solidFill>
            <a:srgbClr val="0A0E1A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2" name="tb112"/>
          <p:cNvSpPr txBox="1"/>
          <p:nvPr/>
        </p:nvSpPr>
        <p:spPr>
          <a:xfrm>
            <a:off x="6925512" y="1550000"/>
            <a:ext cx="1518504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1" i="0" u="none">
                <a:solidFill>
                  <a:srgbClr val="FFFFFF"/>
                </a:solidFill>
                <a:latin typeface="Calibri"/>
                <a:cs typeface="Calibri"/>
              </a:rPr>
              <a:t>Boto3</a:t>
            </a:r>
          </a:p>
        </p:txBody>
      </p:sp>
      <p:sp>
        <p:nvSpPr>
          <p:cNvPr id="113" name="tb113"/>
          <p:cNvSpPr txBox="1"/>
          <p:nvPr/>
        </p:nvSpPr>
        <p:spPr>
          <a:xfrm>
            <a:off x="670000" y="1850000"/>
            <a:ext cx="7804018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850" b="0" i="0" u="none">
                <a:solidFill>
                  <a:srgbClr val="8089A8"/>
                </a:solidFill>
                <a:latin typeface="Calibri"/>
                <a:cs typeface="Calibri"/>
              </a:rPr>
              <a:t>Sources: GOES-19 AWS S3 · MOSDAC INSAT-3DS · JMA Himawari-8</a:t>
            </a:r>
          </a:p>
        </p:txBody>
      </p:sp>
      <p:sp>
        <p:nvSpPr>
          <p:cNvPr id="114" name="card114"/>
          <p:cNvSpPr/>
          <p:nvPr/>
        </p:nvSpPr>
        <p:spPr>
          <a:xfrm>
            <a:off x="450000" y="2100000"/>
            <a:ext cx="8244018" cy="580000"/>
          </a:xfrm>
          <a:prstGeom prst="roundRect">
            <a:avLst>
              <a:gd name="adj" fmla="val 9000"/>
            </a:avLst>
          </a:prstGeom>
          <a:solidFill>
            <a:srgbClr val="151B30"/>
          </a:solidFill>
          <a:ln w="9525">
            <a:solidFill>
              <a:srgbClr val="4B6F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5" name="tb115"/>
          <p:cNvSpPr txBox="1"/>
          <p:nvPr/>
        </p:nvSpPr>
        <p:spPr>
          <a:xfrm>
            <a:off x="670000" y="2190000"/>
            <a:ext cx="15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 b="1" i="0" u="none">
                <a:solidFill>
                  <a:srgbClr val="4B6FF6"/>
                </a:solidFill>
                <a:latin typeface="Arial"/>
                <a:cs typeface="Arial"/>
              </a:rPr>
              <a:t>AI CORE</a:t>
            </a:r>
          </a:p>
        </p:txBody>
      </p:sp>
      <p:sp>
        <p:nvSpPr>
          <p:cNvPr id="116" name="card116"/>
          <p:cNvSpPr/>
          <p:nvPr/>
        </p:nvSpPr>
        <p:spPr>
          <a:xfrm>
            <a:off x="2100000" y="2190000"/>
            <a:ext cx="2054672" cy="280000"/>
          </a:xfrm>
          <a:prstGeom prst="roundRect">
            <a:avLst>
              <a:gd name="adj" fmla="val 30000"/>
            </a:avLst>
          </a:prstGeom>
          <a:solidFill>
            <a:srgbClr val="0A0E1A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7" name="tb117"/>
          <p:cNvSpPr txBox="1"/>
          <p:nvPr/>
        </p:nvSpPr>
        <p:spPr>
          <a:xfrm>
            <a:off x="2100000" y="2190000"/>
            <a:ext cx="2054672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1" i="0" u="none">
                <a:solidFill>
                  <a:srgbClr val="FFFFFF"/>
                </a:solidFill>
                <a:latin typeface="Calibri"/>
                <a:cs typeface="Calibri"/>
              </a:rPr>
              <a:t>RAFT</a:t>
            </a:r>
          </a:p>
        </p:txBody>
      </p:sp>
      <p:sp>
        <p:nvSpPr>
          <p:cNvPr id="118" name="card118"/>
          <p:cNvSpPr/>
          <p:nvPr/>
        </p:nvSpPr>
        <p:spPr>
          <a:xfrm>
            <a:off x="4244672" y="2190000"/>
            <a:ext cx="2054672" cy="280000"/>
          </a:xfrm>
          <a:prstGeom prst="roundRect">
            <a:avLst>
              <a:gd name="adj" fmla="val 30000"/>
            </a:avLst>
          </a:prstGeom>
          <a:solidFill>
            <a:srgbClr val="0A0E1A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9" name="tb119"/>
          <p:cNvSpPr txBox="1"/>
          <p:nvPr/>
        </p:nvSpPr>
        <p:spPr>
          <a:xfrm>
            <a:off x="4244672" y="2190000"/>
            <a:ext cx="2054672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1" i="0" u="none">
                <a:solidFill>
                  <a:srgbClr val="FFFFFF"/>
                </a:solidFill>
                <a:latin typeface="Calibri"/>
                <a:cs typeface="Calibri"/>
              </a:rPr>
              <a:t>RIFE (modified)</a:t>
            </a:r>
          </a:p>
        </p:txBody>
      </p:sp>
      <p:sp>
        <p:nvSpPr>
          <p:cNvPr id="120" name="card120"/>
          <p:cNvSpPr/>
          <p:nvPr/>
        </p:nvSpPr>
        <p:spPr>
          <a:xfrm>
            <a:off x="6389344" y="2190000"/>
            <a:ext cx="2054672" cy="280000"/>
          </a:xfrm>
          <a:prstGeom prst="roundRect">
            <a:avLst>
              <a:gd name="adj" fmla="val 30000"/>
            </a:avLst>
          </a:prstGeom>
          <a:solidFill>
            <a:srgbClr val="0A0E1A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1" name="tb121"/>
          <p:cNvSpPr txBox="1"/>
          <p:nvPr/>
        </p:nvSpPr>
        <p:spPr>
          <a:xfrm>
            <a:off x="6389344" y="2190000"/>
            <a:ext cx="2054672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1" i="0" u="none">
                <a:solidFill>
                  <a:srgbClr val="FFFFFF"/>
                </a:solidFill>
                <a:latin typeface="Calibri"/>
                <a:cs typeface="Calibri"/>
              </a:rPr>
              <a:t>Confidence Head</a:t>
            </a:r>
          </a:p>
        </p:txBody>
      </p:sp>
      <p:sp>
        <p:nvSpPr>
          <p:cNvPr id="122" name="tb122"/>
          <p:cNvSpPr txBox="1"/>
          <p:nvPr/>
        </p:nvSpPr>
        <p:spPr>
          <a:xfrm>
            <a:off x="670000" y="2490000"/>
            <a:ext cx="7804018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850" b="0" i="0" u="none">
                <a:solidFill>
                  <a:srgbClr val="8089A8"/>
                </a:solidFill>
                <a:latin typeface="Calibri"/>
                <a:cs typeface="Calibri"/>
              </a:rPr>
              <a:t>Framework: PyTorch · Loss: L1 + perceptual + Laplacian edge</a:t>
            </a:r>
          </a:p>
        </p:txBody>
      </p:sp>
      <p:sp>
        <p:nvSpPr>
          <p:cNvPr id="123" name="card123"/>
          <p:cNvSpPr/>
          <p:nvPr/>
        </p:nvSpPr>
        <p:spPr>
          <a:xfrm>
            <a:off x="450000" y="2740000"/>
            <a:ext cx="8244018" cy="580000"/>
          </a:xfrm>
          <a:prstGeom prst="roundRect">
            <a:avLst>
              <a:gd name="adj" fmla="val 9000"/>
            </a:avLst>
          </a:prstGeom>
          <a:solidFill>
            <a:srgbClr val="151B30"/>
          </a:solidFill>
          <a:ln w="9525">
            <a:solidFill>
              <a:srgbClr val="3DBE6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4" name="tb124"/>
          <p:cNvSpPr txBox="1"/>
          <p:nvPr/>
        </p:nvSpPr>
        <p:spPr>
          <a:xfrm>
            <a:off x="670000" y="2830000"/>
            <a:ext cx="15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 b="1" i="0" u="none">
                <a:solidFill>
                  <a:srgbClr val="3DBE6C"/>
                </a:solidFill>
                <a:latin typeface="Arial"/>
                <a:cs typeface="Arial"/>
              </a:rPr>
              <a:t>TRAINING</a:t>
            </a:r>
          </a:p>
        </p:txBody>
      </p:sp>
      <p:sp>
        <p:nvSpPr>
          <p:cNvPr id="125" name="card125"/>
          <p:cNvSpPr/>
          <p:nvPr/>
        </p:nvSpPr>
        <p:spPr>
          <a:xfrm>
            <a:off x="2100000" y="2830000"/>
            <a:ext cx="2054672" cy="280000"/>
          </a:xfrm>
          <a:prstGeom prst="roundRect">
            <a:avLst>
              <a:gd name="adj" fmla="val 30000"/>
            </a:avLst>
          </a:prstGeom>
          <a:solidFill>
            <a:srgbClr val="0A0E1A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6" name="tb126"/>
          <p:cNvSpPr txBox="1"/>
          <p:nvPr/>
        </p:nvSpPr>
        <p:spPr>
          <a:xfrm>
            <a:off x="2100000" y="2830000"/>
            <a:ext cx="2054672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1" i="0" u="none">
                <a:solidFill>
                  <a:srgbClr val="FFFFFF"/>
                </a:solidFill>
                <a:latin typeface="Calibri"/>
                <a:cs typeface="Calibri"/>
              </a:rPr>
              <a:t>PyTorch Loop</a:t>
            </a:r>
          </a:p>
        </p:txBody>
      </p:sp>
      <p:sp>
        <p:nvSpPr>
          <p:cNvPr id="127" name="card127"/>
          <p:cNvSpPr/>
          <p:nvPr/>
        </p:nvSpPr>
        <p:spPr>
          <a:xfrm>
            <a:off x="4244672" y="2830000"/>
            <a:ext cx="2054672" cy="280000"/>
          </a:xfrm>
          <a:prstGeom prst="roundRect">
            <a:avLst>
              <a:gd name="adj" fmla="val 30000"/>
            </a:avLst>
          </a:prstGeom>
          <a:solidFill>
            <a:srgbClr val="0A0E1A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8" name="tb128"/>
          <p:cNvSpPr txBox="1"/>
          <p:nvPr/>
        </p:nvSpPr>
        <p:spPr>
          <a:xfrm>
            <a:off x="4244672" y="2830000"/>
            <a:ext cx="2054672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1" i="0" u="none">
                <a:solidFill>
                  <a:srgbClr val="FFFFFF"/>
                </a:solidFill>
                <a:latin typeface="Calibri"/>
                <a:cs typeface="Calibri"/>
              </a:rPr>
              <a:t>W&amp;B Tracking</a:t>
            </a:r>
          </a:p>
        </p:txBody>
      </p:sp>
      <p:sp>
        <p:nvSpPr>
          <p:cNvPr id="129" name="card129"/>
          <p:cNvSpPr/>
          <p:nvPr/>
        </p:nvSpPr>
        <p:spPr>
          <a:xfrm>
            <a:off x="6389344" y="2830000"/>
            <a:ext cx="2054672" cy="280000"/>
          </a:xfrm>
          <a:prstGeom prst="roundRect">
            <a:avLst>
              <a:gd name="adj" fmla="val 30000"/>
            </a:avLst>
          </a:prstGeom>
          <a:solidFill>
            <a:srgbClr val="0A0E1A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0" name="tb130"/>
          <p:cNvSpPr txBox="1"/>
          <p:nvPr/>
        </p:nvSpPr>
        <p:spPr>
          <a:xfrm>
            <a:off x="6389344" y="2830000"/>
            <a:ext cx="2054672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1" i="0" u="none">
                <a:solidFill>
                  <a:srgbClr val="FFFFFF"/>
                </a:solidFill>
                <a:latin typeface="Calibri"/>
                <a:cs typeface="Calibri"/>
              </a:rPr>
              <a:t>Colab / Kaggle GPU</a:t>
            </a:r>
          </a:p>
        </p:txBody>
      </p:sp>
      <p:sp>
        <p:nvSpPr>
          <p:cNvPr id="131" name="tb131"/>
          <p:cNvSpPr txBox="1"/>
          <p:nvPr/>
        </p:nvSpPr>
        <p:spPr>
          <a:xfrm>
            <a:off x="670000" y="3130000"/>
            <a:ext cx="7804018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850" b="0" i="0" u="none">
                <a:solidFill>
                  <a:srgbClr val="8089A8"/>
                </a:solidFill>
                <a:latin typeface="Calibri"/>
                <a:cs typeface="Calibri"/>
              </a:rPr>
              <a:t>Free-tier compute, sufficient for initial fine-tuning</a:t>
            </a:r>
          </a:p>
        </p:txBody>
      </p:sp>
      <p:sp>
        <p:nvSpPr>
          <p:cNvPr id="132" name="card132"/>
          <p:cNvSpPr/>
          <p:nvPr/>
        </p:nvSpPr>
        <p:spPr>
          <a:xfrm>
            <a:off x="450000" y="3380000"/>
            <a:ext cx="8244018" cy="580000"/>
          </a:xfrm>
          <a:prstGeom prst="roundRect">
            <a:avLst>
              <a:gd name="adj" fmla="val 9000"/>
            </a:avLst>
          </a:prstGeom>
          <a:solidFill>
            <a:srgbClr val="151B30"/>
          </a:solidFill>
          <a:ln w="9525">
            <a:solidFill>
              <a:srgbClr val="FF6A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3" name="tb133"/>
          <p:cNvSpPr txBox="1"/>
          <p:nvPr/>
        </p:nvSpPr>
        <p:spPr>
          <a:xfrm>
            <a:off x="670000" y="3470000"/>
            <a:ext cx="15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 b="1" i="0" u="none">
                <a:solidFill>
                  <a:srgbClr val="FF6A00"/>
                </a:solidFill>
                <a:latin typeface="Arial"/>
                <a:cs typeface="Arial"/>
              </a:rPr>
              <a:t>OUTPUT</a:t>
            </a:r>
          </a:p>
        </p:txBody>
      </p:sp>
      <p:sp>
        <p:nvSpPr>
          <p:cNvPr id="134" name="card134"/>
          <p:cNvSpPr/>
          <p:nvPr/>
        </p:nvSpPr>
        <p:spPr>
          <a:xfrm>
            <a:off x="2100000" y="3470000"/>
            <a:ext cx="1518504" cy="280000"/>
          </a:xfrm>
          <a:prstGeom prst="roundRect">
            <a:avLst>
              <a:gd name="adj" fmla="val 30000"/>
            </a:avLst>
          </a:prstGeom>
          <a:solidFill>
            <a:srgbClr val="0A0E1A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5" name="tb135"/>
          <p:cNvSpPr txBox="1"/>
          <p:nvPr/>
        </p:nvSpPr>
        <p:spPr>
          <a:xfrm>
            <a:off x="2100000" y="3470000"/>
            <a:ext cx="1518504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1" i="0" u="none">
                <a:solidFill>
                  <a:srgbClr val="FFFFFF"/>
                </a:solidFill>
                <a:latin typeface="Calibri"/>
                <a:cs typeface="Calibri"/>
              </a:rPr>
              <a:t>React.js</a:t>
            </a:r>
          </a:p>
        </p:txBody>
      </p:sp>
      <p:sp>
        <p:nvSpPr>
          <p:cNvPr id="136" name="card136"/>
          <p:cNvSpPr/>
          <p:nvPr/>
        </p:nvSpPr>
        <p:spPr>
          <a:xfrm>
            <a:off x="3708504" y="3470000"/>
            <a:ext cx="1518504" cy="280000"/>
          </a:xfrm>
          <a:prstGeom prst="roundRect">
            <a:avLst>
              <a:gd name="adj" fmla="val 30000"/>
            </a:avLst>
          </a:prstGeom>
          <a:solidFill>
            <a:srgbClr val="0A0E1A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7" name="tb137"/>
          <p:cNvSpPr txBox="1"/>
          <p:nvPr/>
        </p:nvSpPr>
        <p:spPr>
          <a:xfrm>
            <a:off x="3708504" y="3470000"/>
            <a:ext cx="1518504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1" i="0" u="none">
                <a:solidFill>
                  <a:srgbClr val="FFFFFF"/>
                </a:solidFill>
                <a:latin typeface="Calibri"/>
                <a:cs typeface="Calibri"/>
              </a:rPr>
              <a:t>Leaflet.js</a:t>
            </a:r>
          </a:p>
        </p:txBody>
      </p:sp>
      <p:sp>
        <p:nvSpPr>
          <p:cNvPr id="138" name="card138"/>
          <p:cNvSpPr/>
          <p:nvPr/>
        </p:nvSpPr>
        <p:spPr>
          <a:xfrm>
            <a:off x="5317008" y="3470000"/>
            <a:ext cx="1518504" cy="280000"/>
          </a:xfrm>
          <a:prstGeom prst="roundRect">
            <a:avLst>
              <a:gd name="adj" fmla="val 30000"/>
            </a:avLst>
          </a:prstGeom>
          <a:solidFill>
            <a:srgbClr val="0A0E1A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9" name="tb139"/>
          <p:cNvSpPr txBox="1"/>
          <p:nvPr/>
        </p:nvSpPr>
        <p:spPr>
          <a:xfrm>
            <a:off x="5317008" y="3470000"/>
            <a:ext cx="1518504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1" i="0" u="none">
                <a:solidFill>
                  <a:srgbClr val="FFFFFF"/>
                </a:solidFill>
                <a:latin typeface="Calibri"/>
                <a:cs typeface="Calibri"/>
              </a:rPr>
              <a:t>Plotly</a:t>
            </a:r>
          </a:p>
        </p:txBody>
      </p:sp>
      <p:sp>
        <p:nvSpPr>
          <p:cNvPr id="140" name="card140"/>
          <p:cNvSpPr/>
          <p:nvPr/>
        </p:nvSpPr>
        <p:spPr>
          <a:xfrm>
            <a:off x="6925512" y="3470000"/>
            <a:ext cx="1518504" cy="280000"/>
          </a:xfrm>
          <a:prstGeom prst="roundRect">
            <a:avLst>
              <a:gd name="adj" fmla="val 30000"/>
            </a:avLst>
          </a:prstGeom>
          <a:solidFill>
            <a:srgbClr val="0A0E1A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1" name="tb141"/>
          <p:cNvSpPr txBox="1"/>
          <p:nvPr/>
        </p:nvSpPr>
        <p:spPr>
          <a:xfrm>
            <a:off x="6925512" y="3470000"/>
            <a:ext cx="1518504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1" i="0" u="none">
                <a:solidFill>
                  <a:srgbClr val="FFFFFF"/>
                </a:solidFill>
                <a:latin typeface="Calibri"/>
                <a:cs typeface="Calibri"/>
              </a:rPr>
              <a:t>Flask API</a:t>
            </a:r>
          </a:p>
        </p:txBody>
      </p:sp>
      <p:sp>
        <p:nvSpPr>
          <p:cNvPr id="142" name="tb142"/>
          <p:cNvSpPr txBox="1"/>
          <p:nvPr/>
        </p:nvSpPr>
        <p:spPr>
          <a:xfrm>
            <a:off x="670000" y="3770000"/>
            <a:ext cx="7804018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850" b="0" i="0" u="none">
                <a:solidFill>
                  <a:srgbClr val="8089A8"/>
                </a:solidFill>
                <a:latin typeface="Calibri"/>
                <a:cs typeface="Calibri"/>
              </a:rPr>
              <a:t>Leaflet handles geospatial lat/lon overlays natively</a:t>
            </a:r>
          </a:p>
        </p:txBody>
      </p:sp>
      <p:sp>
        <p:nvSpPr>
          <p:cNvPr id="143" name="card143"/>
          <p:cNvSpPr/>
          <p:nvPr/>
        </p:nvSpPr>
        <p:spPr>
          <a:xfrm>
            <a:off x="450000" y="4020000"/>
            <a:ext cx="8244018" cy="580000"/>
          </a:xfrm>
          <a:prstGeom prst="roundRect">
            <a:avLst>
              <a:gd name="adj" fmla="val 9000"/>
            </a:avLst>
          </a:prstGeom>
          <a:solidFill>
            <a:srgbClr val="151B30"/>
          </a:solidFill>
          <a:ln w="9525">
            <a:solidFill>
              <a:srgbClr val="4B6F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4" name="tb144"/>
          <p:cNvSpPr txBox="1"/>
          <p:nvPr/>
        </p:nvSpPr>
        <p:spPr>
          <a:xfrm>
            <a:off x="670000" y="4110000"/>
            <a:ext cx="15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 b="1" i="0" u="none">
                <a:solidFill>
                  <a:srgbClr val="4B6FF6"/>
                </a:solidFill>
                <a:latin typeface="Arial"/>
                <a:cs typeface="Arial"/>
              </a:rPr>
              <a:t>EVALUATION</a:t>
            </a:r>
          </a:p>
        </p:txBody>
      </p:sp>
      <p:sp>
        <p:nvSpPr>
          <p:cNvPr id="145" name="card145"/>
          <p:cNvSpPr/>
          <p:nvPr/>
        </p:nvSpPr>
        <p:spPr>
          <a:xfrm>
            <a:off x="2100000" y="4110000"/>
            <a:ext cx="1518504" cy="280000"/>
          </a:xfrm>
          <a:prstGeom prst="roundRect">
            <a:avLst>
              <a:gd name="adj" fmla="val 30000"/>
            </a:avLst>
          </a:prstGeom>
          <a:solidFill>
            <a:srgbClr val="0A0E1A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6" name="tb146"/>
          <p:cNvSpPr txBox="1"/>
          <p:nvPr/>
        </p:nvSpPr>
        <p:spPr>
          <a:xfrm>
            <a:off x="2100000" y="4110000"/>
            <a:ext cx="1518504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1" i="0" u="none">
                <a:solidFill>
                  <a:srgbClr val="FFFFFF"/>
                </a:solidFill>
                <a:latin typeface="Calibri"/>
                <a:cs typeface="Calibri"/>
              </a:rPr>
              <a:t>scikit-image</a:t>
            </a:r>
          </a:p>
        </p:txBody>
      </p:sp>
      <p:sp>
        <p:nvSpPr>
          <p:cNvPr id="147" name="card147"/>
          <p:cNvSpPr/>
          <p:nvPr/>
        </p:nvSpPr>
        <p:spPr>
          <a:xfrm>
            <a:off x="3708504" y="4110000"/>
            <a:ext cx="1518504" cy="280000"/>
          </a:xfrm>
          <a:prstGeom prst="roundRect">
            <a:avLst>
              <a:gd name="adj" fmla="val 30000"/>
            </a:avLst>
          </a:prstGeom>
          <a:solidFill>
            <a:srgbClr val="0A0E1A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8" name="tb148"/>
          <p:cNvSpPr txBox="1"/>
          <p:nvPr/>
        </p:nvSpPr>
        <p:spPr>
          <a:xfrm>
            <a:off x="3708504" y="4110000"/>
            <a:ext cx="1518504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1" i="0" u="none">
                <a:solidFill>
                  <a:srgbClr val="FFFFFF"/>
                </a:solidFill>
                <a:latin typeface="Calibri"/>
                <a:cs typeface="Calibri"/>
              </a:rPr>
              <a:t>SSIM · PSNR · MSE</a:t>
            </a:r>
          </a:p>
        </p:txBody>
      </p:sp>
      <p:sp>
        <p:nvSpPr>
          <p:cNvPr id="149" name="card149"/>
          <p:cNvSpPr/>
          <p:nvPr/>
        </p:nvSpPr>
        <p:spPr>
          <a:xfrm>
            <a:off x="5317008" y="4110000"/>
            <a:ext cx="1518504" cy="280000"/>
          </a:xfrm>
          <a:prstGeom prst="roundRect">
            <a:avLst>
              <a:gd name="adj" fmla="val 30000"/>
            </a:avLst>
          </a:prstGeom>
          <a:solidFill>
            <a:srgbClr val="0A0E1A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0" name="tb150"/>
          <p:cNvSpPr txBox="1"/>
          <p:nvPr/>
        </p:nvSpPr>
        <p:spPr>
          <a:xfrm>
            <a:off x="5317008" y="4110000"/>
            <a:ext cx="1518504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1" i="0" u="none">
                <a:solidFill>
                  <a:srgbClr val="FFFFFF"/>
                </a:solidFill>
                <a:latin typeface="Calibri"/>
                <a:cs typeface="Calibri"/>
              </a:rPr>
              <a:t>Cloud Motion Score</a:t>
            </a:r>
          </a:p>
        </p:txBody>
      </p:sp>
      <p:sp>
        <p:nvSpPr>
          <p:cNvPr id="151" name="card151"/>
          <p:cNvSpPr/>
          <p:nvPr/>
        </p:nvSpPr>
        <p:spPr>
          <a:xfrm>
            <a:off x="6925512" y="4110000"/>
            <a:ext cx="1518504" cy="280000"/>
          </a:xfrm>
          <a:prstGeom prst="roundRect">
            <a:avLst>
              <a:gd name="adj" fmla="val 30000"/>
            </a:avLst>
          </a:prstGeom>
          <a:solidFill>
            <a:srgbClr val="0A0E1A"/>
          </a:solidFill>
          <a:ln w="9525">
            <a:solidFill>
              <a:srgbClr val="2A3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2" name="tb152"/>
          <p:cNvSpPr txBox="1"/>
          <p:nvPr/>
        </p:nvSpPr>
        <p:spPr>
          <a:xfrm>
            <a:off x="6925512" y="4110000"/>
            <a:ext cx="1518504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950" b="1" i="0" u="none">
                <a:solidFill>
                  <a:srgbClr val="FFFFFF"/>
                </a:solidFill>
                <a:latin typeface="Calibri"/>
                <a:cs typeface="Calibri"/>
              </a:rPr>
              <a:t>Temporal Consistency</a:t>
            </a:r>
          </a:p>
        </p:txBody>
      </p:sp>
      <p:sp>
        <p:nvSpPr>
          <p:cNvPr id="153" name="tb153"/>
          <p:cNvSpPr txBox="1"/>
          <p:nvPr/>
        </p:nvSpPr>
        <p:spPr>
          <a:xfrm>
            <a:off x="670000" y="4410000"/>
            <a:ext cx="7804018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850" b="0" i="0" u="none">
                <a:solidFill>
                  <a:srgbClr val="8089A8"/>
                </a:solidFill>
                <a:latin typeface="Calibri"/>
                <a:cs typeface="Calibri"/>
              </a:rPr>
              <a:t>Standard image metrics + two domain-specific scores</a:t>
            </a:r>
          </a:p>
        </p:txBody>
      </p:sp>
      <p:sp>
        <p:nvSpPr>
          <p:cNvPr id="154" name="tb154"/>
          <p:cNvSpPr txBox="1"/>
          <p:nvPr/>
        </p:nvSpPr>
        <p:spPr>
          <a:xfrm>
            <a:off x="450000" y="4750000"/>
            <a:ext cx="8244018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 b="1" i="1" u="none">
                <a:solidFill>
                  <a:srgbClr val="FF6A00"/>
                </a:solidFill>
                <a:latin typeface="Calibri"/>
                <a:cs typeface="Calibri"/>
              </a:rPr>
              <a:t>“No black boxes — every component is explainable, open-source, and reproducible.”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wswswswdwdw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1129</Words>
  <Application>Microsoft Office PowerPoint</Application>
  <PresentationFormat>On-screen Show (16:9)</PresentationFormat>
  <Paragraphs>206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Google Sans Medium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Anushka Dabhade</cp:lastModifiedBy>
  <cp:revision>1</cp:revision>
  <dcterms:modified xsi:type="dcterms:W3CDTF">2026-06-26T19:22:37Z</dcterms:modified>
</cp:coreProperties>
</file>